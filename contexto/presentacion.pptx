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8" r:id="rId3"/>
    <p:sldId id="270" r:id="rId4"/>
    <p:sldId id="269" r:id="rId5"/>
    <p:sldId id="294" r:id="rId6"/>
    <p:sldId id="259" r:id="rId7"/>
    <p:sldId id="291" r:id="rId8"/>
    <p:sldId id="271" r:id="rId9"/>
    <p:sldId id="261" r:id="rId10"/>
    <p:sldId id="273" r:id="rId11"/>
    <p:sldId id="266" r:id="rId12"/>
    <p:sldId id="274" r:id="rId13"/>
    <p:sldId id="275" r:id="rId14"/>
    <p:sldId id="276" r:id="rId15"/>
    <p:sldId id="278" r:id="rId16"/>
    <p:sldId id="288" r:id="rId17"/>
    <p:sldId id="289" r:id="rId18"/>
    <p:sldId id="281" r:id="rId19"/>
    <p:sldId id="290" r:id="rId20"/>
    <p:sldId id="282" r:id="rId21"/>
    <p:sldId id="283" r:id="rId22"/>
    <p:sldId id="285" r:id="rId23"/>
    <p:sldId id="286" r:id="rId24"/>
    <p:sldId id="287" r:id="rId25"/>
    <p:sldId id="292" r:id="rId26"/>
    <p:sldId id="293" r:id="rId27"/>
    <p:sldId id="26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0CEB826-A1B7-4C2D-B682-1F63C6FD15DC}">
          <p14:sldIdLst>
            <p14:sldId id="256"/>
            <p14:sldId id="268"/>
            <p14:sldId id="270"/>
          </p14:sldIdLst>
        </p14:section>
        <p14:section name="Desafío 1" id="{01BC5B3A-8D9A-4D71-902A-05119179AF09}">
          <p14:sldIdLst>
            <p14:sldId id="269"/>
            <p14:sldId id="294"/>
            <p14:sldId id="259"/>
            <p14:sldId id="291"/>
            <p14:sldId id="271"/>
            <p14:sldId id="261"/>
            <p14:sldId id="273"/>
            <p14:sldId id="266"/>
          </p14:sldIdLst>
        </p14:section>
        <p14:section name="Desafío 2" id="{1AF4377B-4ADA-44B4-94E0-ACA9BA37855C}">
          <p14:sldIdLst>
            <p14:sldId id="274"/>
            <p14:sldId id="275"/>
            <p14:sldId id="276"/>
            <p14:sldId id="278"/>
            <p14:sldId id="288"/>
            <p14:sldId id="289"/>
          </p14:sldIdLst>
        </p14:section>
        <p14:section name="Desafío 3" id="{24C8EB9F-CD64-40A6-B974-2C29D63C90A9}">
          <p14:sldIdLst>
            <p14:sldId id="281"/>
            <p14:sldId id="290"/>
            <p14:sldId id="282"/>
            <p14:sldId id="283"/>
            <p14:sldId id="285"/>
            <p14:sldId id="286"/>
            <p14:sldId id="287"/>
            <p14:sldId id="292"/>
            <p14:sldId id="293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A81"/>
    <a:srgbClr val="FFB980"/>
    <a:srgbClr val="457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86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16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Caratula. Reemplaza los textos entre corchetes. El titulo es tu gancho: que suene atractivo, no burocratico.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1AB5-06E4-3F07-93E7-AE8526C8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81618-641D-B1DC-96C2-5C0461BAF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5D555-170E-854A-C78F-9AB10149E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numeros reales de alcance: ayudan al comite a dimensionar el impacto potencial.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6744C-69FD-52E6-DA22-2F97057B1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614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84178-7A08-4DBB-B71F-930877C5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04AED-CACD-ABDD-B88A-D309510D6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6BF00-7B98-D203-675E-A58FDA1B7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Caratula. Reemplaza los textos entre corchetes. El titulo es tu gancho: que suene atractivo, no burocratico.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5DB6F-4186-C528-AE6A-35F05FD59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01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Cuentalo como una historia, no como un informe. Que el desarrollador SIENTA el problema antes de ver los numeros.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BFA7-7027-AAF2-4DDA-65A7802F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A7770-42DF-98A3-28E2-8ED7D39A1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47BE8-072C-0AE9-992B-B25317B41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Cuentalo como una historia, no como un informe. Que el desarrollador SIENTA el problema antes de ver los numeros.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A21EC-311E-6F2D-59CC-5B6CA18AF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28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97B6-29B1-6866-CFC3-B2145717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20E4F-33A7-2E3C-1A8A-CB8D961F2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6A797-B4C1-A909-BBFE-FD347F85E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numeros reales de alcance: ayudan al comite a dimensionar el impacto potencial.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A99F7-FF8A-C55B-C96F-2ED4DF3865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152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preguntas del comite: es escalable? es replicable? Responde ambas con ejemplos concretos.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201CB-6D7A-F380-C547-A03C030F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FAFFE-AF95-C2A1-194F-1F1B0C99B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CAB14-9086-1BCD-631E-C2E6CDE6F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Responde: como mediremos el impacto y cuales son los KPI a mover. Define linea base y meta para cada uno.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B2BC9-9D3A-3647-4A37-6E160EEDE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84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que inspire a los participantes a elegir este desafio. Completa el contacto del referente.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BDAF-9D1C-AC16-3777-F4DBB935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D6048-599B-1045-68B8-43775174D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7B69C-A662-75AF-3F66-F7EEDCFBD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Caratula. Reemplaza los textos entre corchetes. El titulo es tu gancho: que suene atractivo, no burocratico.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E9F2F-9F19-3232-A582-4BFD9C6E5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485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46280-1975-796F-A92A-3236BEBA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06564-928D-FDF7-5A62-772DE1899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4B2AE-406C-6F19-9A71-09F093D0A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Cuentalo como una historia, no como un informe. Que el desarrollador SIENTA el problema antes de ver los numeros.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49180-5509-AFE6-9F08-193FE9A65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610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262F-DBD1-704B-804E-2CC1AED5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70D6C-4624-949E-F3EE-8D66F5C0A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EA5B4-EEBA-0116-D43E-D70C96266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numeros reales de alcance: ayudan al comite a dimensionar el impacto potencial.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E6FCA-EC9E-7C64-7B3D-BA68D7A8D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976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6355-C9E9-C6EC-4F5D-F613B67E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062CD-B90C-E687-7AE7-D2E941633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E5349-1D33-8734-C831-96F204C65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preguntas del comite: es escalable? es replicable? Responde ambas con ejemplos concretos.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8403-6F7D-AB65-2A9D-49CDA038D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053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46DA-C06D-5A4A-5802-31CBE640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0227D-A7F0-E0EB-41FD-80FE59585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11968-58A8-0E98-66F6-A5B7F31F0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Responde: como mediremos el impacto y cuales son los KPI a mover. Define linea base y meta para cada uno.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8EF58-7214-D2BE-549C-56CC11D45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791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1338-EC7B-F587-117D-E353F4CB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7BF84-2344-D08A-0A53-5AF84B8D9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AB7FE-F5FE-9D5F-F710-ADD475937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que inspire a los participantes a elegir este desafio. Completa el contacto del referente.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D39FC-79E3-67AD-C08A-6F7360C0B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554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19D0-DADF-735B-1C92-849D6DD4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1AC7E-B6D1-4588-0028-FF8D45682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24599-CF7F-F275-8418-F0D381C73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Caratula. Reemplaza los textos entre corchetes. El titulo es tu gancho: que suene atractivo, no burocratico.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C10C2-4CCB-3ADE-E09A-F9B2E9555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0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729F-A5C5-074A-F457-8F920020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62387-FB89-94FE-D6AF-B9C7A02B3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9CACE-C7F6-6BFF-7B33-B3C6E82F1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Cuentalo como una historia, no como un informe. Que el desarrollador SIENTA el problema antes de ver los numeros.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95ABE-9E9B-5767-7A26-34D01AB32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170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E9625-9FE2-DEE0-47FE-6C67F9618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EBFD1-EC44-FF12-555E-358AADF51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5AB3B-3927-284E-30D7-B239597AA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numeros reales de alcance: ayudan al comite a dimensionar el impacto potencial.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A8935-9FEB-32CC-AE9F-E7FD3FAED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370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C52C-5BE8-9257-561C-5A304655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91478-4280-7B05-5F51-51B483DFD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08A85-379B-15F4-A000-9C0EFFD50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preguntas del comite: es escalable? es replicable? Responde ambas con ejemplos concretos.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934E8-78F3-E395-73C3-59EEC41DE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044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A198-47C8-45F6-07B0-BFE77DB2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36385-30B4-4142-EEFB-3AECC608A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33D4D-2BAB-F6F5-0FA6-97B048E92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Responde: como mediremos el impacto y cuales son los KPI a mover. Define linea base y meta para cada uno.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E8987-13D0-FCD0-3A92-986FBE573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852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098D-E882-0B2A-CF07-EF800B99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943C7-4A0C-DEE2-2A9B-16A174A60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4B45A-C81F-66CF-05EF-6C600C302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que inspire a los participantes a elegir este desafio. Completa el contacto del referente.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5F5AF-5E3C-5C74-DFF2-7ACA75AB0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0231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0A53-F209-2C04-8927-AB0638CE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F0676-DC4F-A887-CF50-8CE0BC542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18947-6C22-E7C0-66A7-0E3358A16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que inspire a los participantes a elegir este desafio. Completa el contacto del referente.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FA716-D5E8-67D3-2718-8527ED313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3927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D9FD7-4C2A-FC7A-6D65-3E3E7135B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360653-0AAA-4474-65A0-6075E27F3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644E21-918F-D57D-EC65-3FA40944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4AAF0-DC5C-1A3A-681C-E01A095B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88D2B1-E8FC-C9CA-62CF-9CB99838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003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B2B39-7993-2845-3331-CCD5D620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5D1767-0A9F-0A98-2DAE-ED83EA7B1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072ECE-F8B9-0EA4-F166-E82F1ECE5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4134BB-FC8C-E611-2EAC-95559641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FCE8DA-2BB1-1BE8-4B67-1B13708C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560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E9FA4-34B8-4C7D-AACA-0CCFEAD6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173778-69E2-90A2-FFCB-DDC5881C0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920735-BC9F-9A8D-975F-E11DED95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B7653-141A-EA01-5193-DECDEF2C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96468A-4273-6D7E-F37B-CBB3B92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151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1A794-80FA-CFD7-E73A-C56563C3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F14BD-0E67-F267-ACD1-ED545A723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A4A5D7-E2A1-4824-3316-68FB2100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23FB0A-5388-CD49-4F0D-7B97C682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F18817-FD0D-97F8-0324-45AF8195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8BEE92-DB56-EA87-3C51-A37BB533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288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8B0C4-5FA0-9C72-FD0E-8D205231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D2CFEA-C5BE-528E-F551-C2837A11F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92103D-E269-088B-3811-BD1894F99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7CBD02-0709-DDF9-AA31-49F1979A7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E3B1D7-0997-73E5-B391-5D85BE96B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309A52-720B-1A5C-57B9-06E660F5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02029C-6860-56BF-B789-BB04E064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56AA10-84F8-E68F-8BD7-13BF4A40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186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838AE-9015-843C-1BE9-7AB38048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476AA7-5D98-D034-384E-50C24EEE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80C9D0-E3E8-FFBA-3ADB-9C5E25E4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983CF1-AEB8-C65F-AA0B-8E3E832F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5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327D2E-F4F2-E7B5-EC97-1EF3E068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F4DCBE-0A26-4DA8-0D1A-FC3120BE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75609D-59D9-2167-83F9-E8180AB0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45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6DF84-D561-E056-5ABE-C74FFA77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5FCDDD-D618-0D3F-C9EB-4B2DA4351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D63ECE-D123-35EE-ACA3-6C168CDB8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6D156B-21B8-EC34-D394-4A5D7B123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A26021-5E2E-A894-E3EE-D6EC3110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7836B6-D26A-7524-DB1C-8D8271D9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829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A1AE1-79C5-EBD3-61AE-BB43A931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800629-158D-5FAC-CC7E-653703EC6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803E4B-AC4C-ECF5-F346-EB5C48FF8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69F73C-E44D-D381-AEFA-22E16191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D4EE18-E1B9-39D1-B2E1-C69C72C3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D6280F-B408-2C0F-28C9-99FC9D18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435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8760D-DD80-FF5D-B7CF-1E98987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5F94BE-34B3-FB3D-3CE4-28C44DCF2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C6E9C6-A8E3-1B77-60BE-DCEF33E7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54B001-B5B8-2206-E909-606B9977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A242E9-2182-8BAE-E2BE-7CED67DA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116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585A0F-C750-183B-B989-DCBE49C77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6B3CD2-2148-B316-33E1-109242748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7135D-10D8-406A-02A9-3FA3FE2C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8FBAE-7ED0-3D67-D37B-85049E47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C3246-0FA5-D82C-250E-BE77F7FF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95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0DBCDF-54DB-6F67-E7C6-F0F7D14C5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06E605-32E4-057B-E4B8-0CC861615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DFDFBB-8E43-5CDE-09E5-C444AF3EF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F7009-CDD0-AE46-850A-FF92DE0ACFCC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F55EC1-8DC8-D5F7-4436-187B21DFD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85546F-5A2B-1B72-6405-832627980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0EA19-FC6F-3A4D-A3E7-E3D870EF11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659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microsoft.com/office/2007/relationships/hdphoto" Target="../media/hdphoto1.wdp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YFsaV2bueU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IUnbpdgdcQ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0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783080" y="5669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20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BARRIERS  ·  CHILE 2026</a:t>
            </a:r>
            <a:endParaRPr lang="es-CL" sz="1100" noProof="0" dirty="0">
              <a:solidFill>
                <a:srgbClr val="20416F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943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HACKATON DE IA GENERATIVA  ·  DESAFIO</a:t>
            </a:r>
            <a:endParaRPr lang="es-CL" sz="1200" noProof="0" dirty="0">
              <a:solidFill>
                <a:srgbClr val="D98D3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691640" y="3630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desafíos de Integra</a:t>
            </a:r>
            <a:endParaRPr lang="es-CL" b="1" noProof="0" dirty="0">
              <a:solidFill>
                <a:srgbClr val="FFFFFF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212080" y="3364992"/>
            <a:ext cx="45262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endParaRPr lang="es-CL" sz="1300" noProof="0" dirty="0">
              <a:solidFill>
                <a:srgbClr val="FFFFFF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" y="475488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6F8FB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0" name="Image 1" descr="icon_0e5nytab4o3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" y="4910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754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Integra</a:t>
            </a:r>
            <a:endParaRPr lang="es-CL" sz="1050" noProof="0" dirty="0"/>
          </a:p>
        </p:txBody>
      </p:sp>
      <p:sp>
        <p:nvSpPr>
          <p:cNvPr id="12" name="Shape 8"/>
          <p:cNvSpPr/>
          <p:nvPr/>
        </p:nvSpPr>
        <p:spPr>
          <a:xfrm>
            <a:off x="4389120" y="475488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6F8FB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2" descr="icon_b8qocxyktl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5424" y="49103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4754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Educación / Ciudadanía</a:t>
            </a:r>
            <a:endParaRPr lang="es-CL" sz="1050" noProof="0" dirty="0"/>
          </a:p>
        </p:txBody>
      </p:sp>
      <p:sp>
        <p:nvSpPr>
          <p:cNvPr id="15" name="Shape 10"/>
          <p:cNvSpPr/>
          <p:nvPr/>
        </p:nvSpPr>
        <p:spPr>
          <a:xfrm>
            <a:off x="8092440" y="475488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6F8FB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3" descr="icon_kan9fp7bmv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8744" y="491032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95360" y="4754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Niño/as y sus familias  / equipo educativo  </a:t>
            </a:r>
            <a:endParaRPr lang="es-CL" sz="1050" noProof="0" dirty="0"/>
          </a:p>
        </p:txBody>
      </p:sp>
      <p:sp>
        <p:nvSpPr>
          <p:cNvPr id="18" name="Text 12"/>
          <p:cNvSpPr/>
          <p:nvPr/>
        </p:nvSpPr>
        <p:spPr>
          <a:xfrm>
            <a:off x="59436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14 - 16 de octubre de 2026   ·   Universidad de Chile, </a:t>
            </a:r>
            <a:r>
              <a:rPr lang="es-CL" sz="1200" b="1" noProof="0" dirty="0" err="1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Beaucheff</a:t>
            </a:r>
            <a:r>
              <a:rPr lang="es-CL" sz="1200" b="1" noProof="0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851, Santiago</a:t>
            </a:r>
            <a:endParaRPr lang="es-CL" sz="1200" noProof="0" dirty="0">
              <a:solidFill>
                <a:srgbClr val="646464"/>
              </a:solidFill>
            </a:endParaRPr>
          </a:p>
        </p:txBody>
      </p:sp>
      <p:pic>
        <p:nvPicPr>
          <p:cNvPr id="19" name="Picture 18" descr="The National Intelligence Center of Spain and AWS collaborate to promote public sector cybersecurity | AWS Security Blog">
            <a:extLst>
              <a:ext uri="{FF2B5EF4-FFF2-40B4-BE49-F238E27FC236}">
                <a16:creationId xmlns:a16="http://schemas.microsoft.com/office/drawing/2014/main" id="{0AB266D3-41DC-EEE4-64C5-DF6D90D7E6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11480"/>
            <a:ext cx="1097280" cy="73152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E94A79-50C4-F3FE-983F-3977B6E69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5351" y="2445157"/>
            <a:ext cx="2489425" cy="1839669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57AC0DC7-3947-87B3-AE92-63A3B3445626}"/>
              </a:ext>
            </a:extLst>
          </p:cNvPr>
          <p:cNvGrpSpPr/>
          <p:nvPr/>
        </p:nvGrpSpPr>
        <p:grpSpPr>
          <a:xfrm>
            <a:off x="5654104" y="2445157"/>
            <a:ext cx="2840672" cy="1816809"/>
            <a:chOff x="5654104" y="2445157"/>
            <a:chExt cx="2840672" cy="1816809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6F633313-2C2D-039F-B1B8-89DA77A49049}"/>
                </a:ext>
              </a:extLst>
            </p:cNvPr>
            <p:cNvSpPr/>
            <p:nvPr/>
          </p:nvSpPr>
          <p:spPr>
            <a:xfrm>
              <a:off x="6005351" y="2503170"/>
              <a:ext cx="2489425" cy="1758796"/>
            </a:xfrm>
            <a:prstGeom prst="rect">
              <a:avLst/>
            </a:prstGeom>
            <a:solidFill>
              <a:srgbClr val="4573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FAEA80A7-CD30-BDEC-3DCD-20B6E5442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54104" y="2445157"/>
              <a:ext cx="2805614" cy="1723182"/>
            </a:xfrm>
            <a:prstGeom prst="rect">
              <a:avLst/>
            </a:prstGeom>
            <a:effectLst>
              <a:outerShdw blurRad="162319" dist="38100" dir="8100000" algn="tr" rotWithShape="0">
                <a:prstClr val="black">
                  <a:alpha val="10807"/>
                </a:prstClr>
              </a:outerShdw>
            </a:effec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5286-505A-BEAD-1066-C90292E0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7B4E0D6-4C9B-6222-635B-C939D18320D1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DE LA INSTITUCION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BF70CE-8A61-EAF5-CD39-5854CA138BB5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C2513D-7E8B-F96F-E72E-E09F448E7A12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DC57C1-58F8-23F1-B9C3-3D7E59B41295}"/>
              </a:ext>
            </a:extLst>
          </p:cNvPr>
          <p:cNvSpPr/>
          <p:nvPr/>
        </p:nvSpPr>
        <p:spPr>
          <a:xfrm>
            <a:off x="574548" y="2035347"/>
            <a:ext cx="1949257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Nuestra misión</a:t>
            </a:r>
            <a:endParaRPr kumimoji="0" lang="es-CL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A13252-B08F-2BA8-AA5D-6D87FB3A808E}"/>
              </a:ext>
            </a:extLst>
          </p:cNvPr>
          <p:cNvSpPr/>
          <p:nvPr/>
        </p:nvSpPr>
        <p:spPr>
          <a:xfrm>
            <a:off x="574548" y="2489115"/>
            <a:ext cx="2606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3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oportunidades para toda la vida, educando con calidad y cuidando a la primera infancia.</a:t>
            </a:r>
            <a:endParaRPr kumimoji="0" lang="es-CL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9A731A7-1170-0FB9-A14E-3189C6EFBAD3}"/>
              </a:ext>
            </a:extLst>
          </p:cNvPr>
          <p:cNvSpPr/>
          <p:nvPr/>
        </p:nvSpPr>
        <p:spPr>
          <a:xfrm>
            <a:off x="6151250" y="3888988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36906A4-D274-EA7A-11B8-B3CFA5D96D7D}"/>
              </a:ext>
            </a:extLst>
          </p:cNvPr>
          <p:cNvSpPr/>
          <p:nvPr/>
        </p:nvSpPr>
        <p:spPr>
          <a:xfrm>
            <a:off x="6151250" y="3888988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Image 0" descr="icon_a09wp07hgb9.svg">
            <a:extLst>
              <a:ext uri="{FF2B5EF4-FFF2-40B4-BE49-F238E27FC236}">
                <a16:creationId xmlns:a16="http://schemas.microsoft.com/office/drawing/2014/main" id="{2857D77C-74CF-0124-CCE8-7F5F499D4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1290" y="4187025"/>
            <a:ext cx="457200" cy="425767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E555C9E5-D5BE-CA9D-F438-813AF0E9BEF2}"/>
              </a:ext>
            </a:extLst>
          </p:cNvPr>
          <p:cNvSpPr/>
          <p:nvPr/>
        </p:nvSpPr>
        <p:spPr>
          <a:xfrm>
            <a:off x="6425570" y="4697946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+ 85.000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DB07106-3FFB-856E-2CEA-C6478421B91E}"/>
              </a:ext>
            </a:extLst>
          </p:cNvPr>
          <p:cNvSpPr/>
          <p:nvPr/>
        </p:nvSpPr>
        <p:spPr>
          <a:xfrm>
            <a:off x="6425570" y="5294020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Niño/as y sus familias al año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AF08B23-49FF-528C-CA3D-EB5B74A4CAED}"/>
              </a:ext>
            </a:extLst>
          </p:cNvPr>
          <p:cNvSpPr/>
          <p:nvPr/>
        </p:nvSpPr>
        <p:spPr>
          <a:xfrm>
            <a:off x="3340730" y="1790388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F7423A3-CA08-AEB4-7952-CDE32A551419}"/>
              </a:ext>
            </a:extLst>
          </p:cNvPr>
          <p:cNvSpPr/>
          <p:nvPr/>
        </p:nvSpPr>
        <p:spPr>
          <a:xfrm>
            <a:off x="3340730" y="1790388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Image 1" descr="icon_47gzxgnvv8q.svg">
            <a:extLst>
              <a:ext uri="{FF2B5EF4-FFF2-40B4-BE49-F238E27FC236}">
                <a16:creationId xmlns:a16="http://schemas.microsoft.com/office/drawing/2014/main" id="{FE01A47B-6B39-79C6-82F2-7349F5DDED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0770" y="2088425"/>
            <a:ext cx="457200" cy="425767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3DDDA55F-13E6-8680-6EBE-F2ED8BA26767}"/>
              </a:ext>
            </a:extLst>
          </p:cNvPr>
          <p:cNvSpPr/>
          <p:nvPr/>
        </p:nvSpPr>
        <p:spPr>
          <a:xfrm>
            <a:off x="3615050" y="2599346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+1.200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76129F0-7B89-696E-31E9-5CA243A25B67}"/>
              </a:ext>
            </a:extLst>
          </p:cNvPr>
          <p:cNvSpPr/>
          <p:nvPr/>
        </p:nvSpPr>
        <p:spPr>
          <a:xfrm>
            <a:off x="3615050" y="3195420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Jardines y Salas Cuna a lo largo de Chile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7649CAA-8974-C2A7-013F-751FAA5F7B72}"/>
              </a:ext>
            </a:extLst>
          </p:cNvPr>
          <p:cNvSpPr/>
          <p:nvPr/>
        </p:nvSpPr>
        <p:spPr>
          <a:xfrm>
            <a:off x="6138865" y="1773127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BDEDED9-8E84-FF6F-ED41-F5079479F9B4}"/>
              </a:ext>
            </a:extLst>
          </p:cNvPr>
          <p:cNvSpPr/>
          <p:nvPr/>
        </p:nvSpPr>
        <p:spPr>
          <a:xfrm>
            <a:off x="6138865" y="1773127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DEFC89F-86BC-A5C7-8658-4B666195AF01}"/>
              </a:ext>
            </a:extLst>
          </p:cNvPr>
          <p:cNvSpPr/>
          <p:nvPr/>
        </p:nvSpPr>
        <p:spPr>
          <a:xfrm>
            <a:off x="6413185" y="2582085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+27.500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BB3D3612-6004-273A-7609-5C351E684B24}"/>
              </a:ext>
            </a:extLst>
          </p:cNvPr>
          <p:cNvSpPr/>
          <p:nvPr/>
        </p:nvSpPr>
        <p:spPr>
          <a:xfrm>
            <a:off x="6413185" y="3178160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Trabajador/es, del cual 98% somos mujeres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CB41FE57-0F27-1976-0DB7-5B7735AE1CB3}"/>
              </a:ext>
            </a:extLst>
          </p:cNvPr>
          <p:cNvSpPr/>
          <p:nvPr/>
        </p:nvSpPr>
        <p:spPr>
          <a:xfrm>
            <a:off x="8972076" y="1780214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6497758-86DB-F7A2-5B55-9BAF69D28795}"/>
              </a:ext>
            </a:extLst>
          </p:cNvPr>
          <p:cNvSpPr/>
          <p:nvPr/>
        </p:nvSpPr>
        <p:spPr>
          <a:xfrm>
            <a:off x="8972076" y="1780214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Image 3" descr="icon_1mhryr3qrkx.svg">
            <a:extLst>
              <a:ext uri="{FF2B5EF4-FFF2-40B4-BE49-F238E27FC236}">
                <a16:creationId xmlns:a16="http://schemas.microsoft.com/office/drawing/2014/main" id="{C95582A3-BE0E-9CE1-9F17-1BB829FAA5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2116" y="2078251"/>
            <a:ext cx="457200" cy="425767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92915563-A969-D3B1-1D51-A429974DDD20}"/>
              </a:ext>
            </a:extLst>
          </p:cNvPr>
          <p:cNvSpPr/>
          <p:nvPr/>
        </p:nvSpPr>
        <p:spPr>
          <a:xfrm>
            <a:off x="9246396" y="2589172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3086506-7790-332F-0E04-C1B17C3BD350}"/>
              </a:ext>
            </a:extLst>
          </p:cNvPr>
          <p:cNvSpPr/>
          <p:nvPr/>
        </p:nvSpPr>
        <p:spPr>
          <a:xfrm>
            <a:off x="9246396" y="3185247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más vulnerable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8812CE31-BAC6-2DB8-0E54-ECFD26EA3D3D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22B18515-AD2F-C1CE-8B7C-EF89A0F6C2B2}"/>
              </a:ext>
            </a:extLst>
          </p:cNvPr>
          <p:cNvSpPr/>
          <p:nvPr/>
        </p:nvSpPr>
        <p:spPr>
          <a:xfrm>
            <a:off x="8980829" y="3885701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42B42FDA-6654-EA50-FC16-CE892788FF57}"/>
              </a:ext>
            </a:extLst>
          </p:cNvPr>
          <p:cNvSpPr/>
          <p:nvPr/>
        </p:nvSpPr>
        <p:spPr>
          <a:xfrm>
            <a:off x="8980829" y="3885701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6" name="Image 1" descr="icon_47gzxgnvv8q.svg">
            <a:extLst>
              <a:ext uri="{FF2B5EF4-FFF2-40B4-BE49-F238E27FC236}">
                <a16:creationId xmlns:a16="http://schemas.microsoft.com/office/drawing/2014/main" id="{9285EED1-CBFB-D2D0-E36E-D1C76B5C0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0869" y="4183738"/>
            <a:ext cx="457200" cy="425767"/>
          </a:xfrm>
          <a:prstGeom prst="rect">
            <a:avLst/>
          </a:prstGeom>
        </p:spPr>
      </p:pic>
      <p:sp>
        <p:nvSpPr>
          <p:cNvPr id="38" name="Text 14">
            <a:extLst>
              <a:ext uri="{FF2B5EF4-FFF2-40B4-BE49-F238E27FC236}">
                <a16:creationId xmlns:a16="http://schemas.microsoft.com/office/drawing/2014/main" id="{58D25CA7-74A3-A071-1EF6-67F08A94E80C}"/>
              </a:ext>
            </a:extLst>
          </p:cNvPr>
          <p:cNvSpPr/>
          <p:nvPr/>
        </p:nvSpPr>
        <p:spPr>
          <a:xfrm>
            <a:off x="9255149" y="4694659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E183241B-31CA-90C5-0DF9-54F5024BC59C}"/>
              </a:ext>
            </a:extLst>
          </p:cNvPr>
          <p:cNvSpPr/>
          <p:nvPr/>
        </p:nvSpPr>
        <p:spPr>
          <a:xfrm>
            <a:off x="9255149" y="5290733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</a:t>
            </a:r>
            <a:r>
              <a:rPr kumimoji="0" lang="es-CL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educ</a:t>
            </a: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kumimoji="0" lang="es-CL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parvularia</a:t>
            </a: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pública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8158BBB8-5186-9E49-F533-0C82523868C9}"/>
              </a:ext>
            </a:extLst>
          </p:cNvPr>
          <p:cNvSpPr/>
          <p:nvPr/>
        </p:nvSpPr>
        <p:spPr>
          <a:xfrm>
            <a:off x="3343917" y="3876418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DB4D4535-44A5-2E41-8AD9-140A0795EE1B}"/>
              </a:ext>
            </a:extLst>
          </p:cNvPr>
          <p:cNvSpPr/>
          <p:nvPr/>
        </p:nvSpPr>
        <p:spPr>
          <a:xfrm>
            <a:off x="3343917" y="3876418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FF80AD88-DC84-3587-A280-3EFB885A1DE7}"/>
              </a:ext>
            </a:extLst>
          </p:cNvPr>
          <p:cNvSpPr/>
          <p:nvPr/>
        </p:nvSpPr>
        <p:spPr>
          <a:xfrm>
            <a:off x="3618237" y="4685376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320 (95%)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A40F1004-81CE-40D4-8D2E-E6E1E80656C1}"/>
              </a:ext>
            </a:extLst>
          </p:cNvPr>
          <p:cNvSpPr/>
          <p:nvPr/>
        </p:nvSpPr>
        <p:spPr>
          <a:xfrm>
            <a:off x="3618237" y="5281451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Comunas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62461841-7EB9-089F-29CA-1DD232FEBEF7}"/>
              </a:ext>
            </a:extLst>
          </p:cNvPr>
          <p:cNvSpPr/>
          <p:nvPr/>
        </p:nvSpPr>
        <p:spPr>
          <a:xfrm>
            <a:off x="525320" y="3869341"/>
            <a:ext cx="2606040" cy="191595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7C0B7A30-5DF0-8D21-34EA-D9AE989611AB}"/>
              </a:ext>
            </a:extLst>
          </p:cNvPr>
          <p:cNvSpPr/>
          <p:nvPr/>
        </p:nvSpPr>
        <p:spPr>
          <a:xfrm>
            <a:off x="525320" y="3869341"/>
            <a:ext cx="91440" cy="19159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C0ABD26B-751F-296C-611A-13439434CAAE}"/>
              </a:ext>
            </a:extLst>
          </p:cNvPr>
          <p:cNvSpPr/>
          <p:nvPr/>
        </p:nvSpPr>
        <p:spPr>
          <a:xfrm>
            <a:off x="799640" y="4678299"/>
            <a:ext cx="2057400" cy="59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600" b="1" i="0" u="none" strike="noStrike" kern="1200" cap="none" spc="0" normalizeH="0" baseline="0" noProof="0" dirty="0">
                <a:ln>
                  <a:noFill/>
                </a:ln>
                <a:solidFill>
                  <a:srgbClr val="B872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AE73F8D8-9CCE-441F-A91F-ACF97908C2AB}"/>
              </a:ext>
            </a:extLst>
          </p:cNvPr>
          <p:cNvSpPr/>
          <p:nvPr/>
        </p:nvSpPr>
        <p:spPr>
          <a:xfrm>
            <a:off x="799640" y="5274373"/>
            <a:ext cx="214884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Años de trayectoria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2" name="Image 1" descr="icon_47gzxgnvv8q.svg">
            <a:extLst>
              <a:ext uri="{FF2B5EF4-FFF2-40B4-BE49-F238E27FC236}">
                <a16:creationId xmlns:a16="http://schemas.microsoft.com/office/drawing/2014/main" id="{20C9818E-E0CF-5242-EC85-196E2246B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9170" y="4153167"/>
            <a:ext cx="457200" cy="425767"/>
          </a:xfrm>
          <a:prstGeom prst="rect">
            <a:avLst/>
          </a:prstGeom>
        </p:spPr>
      </p:pic>
      <p:pic>
        <p:nvPicPr>
          <p:cNvPr id="64" name="Image 0" descr="icon_a09wp07hgb9.svg">
            <a:extLst>
              <a:ext uri="{FF2B5EF4-FFF2-40B4-BE49-F238E27FC236}">
                <a16:creationId xmlns:a16="http://schemas.microsoft.com/office/drawing/2014/main" id="{DA9ACD71-282C-5DE0-9FE7-FEFEF9605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8815" y="2065777"/>
            <a:ext cx="457200" cy="425767"/>
          </a:xfrm>
          <a:prstGeom prst="rect">
            <a:avLst/>
          </a:prstGeom>
        </p:spPr>
      </p:pic>
      <p:pic>
        <p:nvPicPr>
          <p:cNvPr id="69" name="Image 2" descr="icon_94vlm61d7v.svg">
            <a:extLst>
              <a:ext uri="{FF2B5EF4-FFF2-40B4-BE49-F238E27FC236}">
                <a16:creationId xmlns:a16="http://schemas.microsoft.com/office/drawing/2014/main" id="{06DE4ECF-7108-7405-2A1D-DCBB3BAEF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991" y="4151260"/>
            <a:ext cx="457200" cy="42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2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s multimedia en línea 3" title="¿Por qué te gusta venir al jardín?">
            <a:hlinkClick r:id="" action="ppaction://media"/>
            <a:extLst>
              <a:ext uri="{FF2B5EF4-FFF2-40B4-BE49-F238E27FC236}">
                <a16:creationId xmlns:a16="http://schemas.microsoft.com/office/drawing/2014/main" id="{14B58C7E-8270-53BB-79A9-27B232F9F6B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25" y="0"/>
            <a:ext cx="12147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7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35A85-F947-9086-56DE-D3FBB97F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B279E70-75CD-68E6-7182-BFEBC05B6C8E}"/>
              </a:ext>
            </a:extLst>
          </p:cNvPr>
          <p:cNvSpPr/>
          <p:nvPr/>
        </p:nvSpPr>
        <p:spPr>
          <a:xfrm>
            <a:off x="1783080" y="5669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0" cap="none" spc="20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 BARRIERS  ·  CHILE 2026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97DC151-4318-6819-10EC-C6EC09160C4B}"/>
              </a:ext>
            </a:extLst>
          </p:cNvPr>
          <p:cNvSpPr/>
          <p:nvPr/>
        </p:nvSpPr>
        <p:spPr>
          <a:xfrm>
            <a:off x="5059894" y="3407017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600" dirty="0">
                <a:solidFill>
                  <a:srgbClr val="FFFFFF"/>
                </a:solidFill>
                <a:latin typeface="Calibri Light" panose="020F0302020204030204" pitchFamily="34" charset="0"/>
                <a:ea typeface="Calibri" pitchFamily="34" charset="-122"/>
                <a:cs typeface="Calibri Light" panose="020F0302020204030204" pitchFamily="34" charset="0"/>
              </a:rPr>
              <a:t>Más tiempo para </a:t>
            </a:r>
            <a:r>
              <a:rPr lang="es-CL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interacciones significativas</a:t>
            </a:r>
            <a:endParaRPr kumimoji="0" lang="es-CL" sz="16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DD455B-54C7-358F-EE2D-30EABD70E0D9}"/>
              </a:ext>
            </a:extLst>
          </p:cNvPr>
          <p:cNvSpPr/>
          <p:nvPr/>
        </p:nvSpPr>
        <p:spPr>
          <a:xfrm>
            <a:off x="5059894" y="2707501"/>
            <a:ext cx="4526280" cy="111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L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IA para el </a:t>
            </a:r>
            <a:r>
              <a:rPr lang="es-CL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kumimoji="0" lang="es-CL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esarrollo</a:t>
            </a:r>
            <a:r>
              <a:rPr kumimoji="0" lang="es-CL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Infantil: de la Observación a la Acción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Picture 18" descr="The National Intelligence Center of Spain and AWS collaborate to promote public sector cybersecurity | AWS Security Blog">
            <a:extLst>
              <a:ext uri="{FF2B5EF4-FFF2-40B4-BE49-F238E27FC236}">
                <a16:creationId xmlns:a16="http://schemas.microsoft.com/office/drawing/2014/main" id="{462781B5-93C6-7D1C-2DCC-417BF78FD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1480"/>
            <a:ext cx="1097280" cy="731520"/>
          </a:xfrm>
          <a:prstGeom prst="roundRect">
            <a:avLst/>
          </a:prstGeom>
        </p:spPr>
      </p:pic>
      <p:sp>
        <p:nvSpPr>
          <p:cNvPr id="26" name="Shape 3">
            <a:extLst>
              <a:ext uri="{FF2B5EF4-FFF2-40B4-BE49-F238E27FC236}">
                <a16:creationId xmlns:a16="http://schemas.microsoft.com/office/drawing/2014/main" id="{D186E18A-5FDC-BA6E-1377-70ED06B3C7F8}"/>
              </a:ext>
            </a:extLst>
          </p:cNvPr>
          <p:cNvSpPr/>
          <p:nvPr/>
        </p:nvSpPr>
        <p:spPr>
          <a:xfrm>
            <a:off x="4627940" y="2609025"/>
            <a:ext cx="320722" cy="318878"/>
          </a:xfrm>
          <a:prstGeom prst="ellipse">
            <a:avLst/>
          </a:prstGeom>
          <a:solidFill>
            <a:srgbClr val="F79646">
              <a:lumMod val="75000"/>
            </a:srgbClr>
          </a:solidFill>
          <a:ln/>
        </p:spPr>
        <p:txBody>
          <a:bodyPr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endParaRPr lang="es-CL" sz="135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80CEF27-DA96-C67F-D719-C4E53827855C}"/>
              </a:ext>
            </a:extLst>
          </p:cNvPr>
          <p:cNvSpPr/>
          <p:nvPr/>
        </p:nvSpPr>
        <p:spPr>
          <a:xfrm>
            <a:off x="4627940" y="2609025"/>
            <a:ext cx="320722" cy="31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pPr algn="ctr"/>
            <a:r>
              <a:rPr lang="es-CL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350" dirty="0"/>
          </a:p>
        </p:txBody>
      </p:sp>
    </p:spTree>
    <p:extLst>
      <p:ext uri="{BB962C8B-B14F-4D97-AF65-F5344CB8AC3E}">
        <p14:creationId xmlns:p14="http://schemas.microsoft.com/office/powerpoint/2010/main" val="147132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38C7AC-4DE8-487E-C9C4-FAD87E83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27" r="-2" b="23811"/>
          <a:stretch>
            <a:fillRect/>
          </a:stretch>
        </p:blipFill>
        <p:spPr>
          <a:xfrm>
            <a:off x="5622233" y="1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FB1904C-67E3-A1C1-AE6B-37E356B8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996" b="11728"/>
          <a:stretch>
            <a:fillRect/>
          </a:stretch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C94C79E-FCAF-D12F-24D2-11EED1C48D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274" r="-1" b="18946"/>
          <a:stretch>
            <a:fillRect/>
          </a:stretch>
        </p:blipFill>
        <p:spPr>
          <a:xfrm>
            <a:off x="20" y="10"/>
            <a:ext cx="7503091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963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lang="es-C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real</a:t>
            </a:r>
            <a:endParaRPr lang="es-CL" sz="2800" noProof="0" dirty="0">
              <a:solidFill>
                <a:srgbClr val="20416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583680" cy="4087368"/>
          </a:xfrm>
          <a:prstGeom prst="roundRect">
            <a:avLst>
              <a:gd name="adj" fmla="val 1489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endParaRPr lang="es-CL" noProof="0" dirty="0"/>
          </a:p>
        </p:txBody>
      </p:sp>
      <p:pic>
        <p:nvPicPr>
          <p:cNvPr id="7" name="Image 0" descr="icon_chwp98x4it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2043975"/>
            <a:ext cx="502920" cy="4783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61368"/>
            <a:ext cx="5303520" cy="43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una persona</a:t>
            </a:r>
            <a:endParaRPr lang="es-CL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2609250"/>
            <a:ext cx="5943600" cy="173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0"/>
              </a:lnSpc>
              <a:buNone/>
            </a:pPr>
            <a:r>
              <a:rPr lang="es-ES" sz="1400" i="1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s-ES" sz="1400" i="1" noProof="0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tía Mecedes del Jardín Caracolitos de Chillán, no puede estar en la sala con Maite y Simón, apoyándolos en su desarrollo.</a:t>
            </a:r>
          </a:p>
          <a:p>
            <a:pPr marL="0" indent="0">
              <a:lnSpc>
                <a:spcPts val="1820"/>
              </a:lnSpc>
              <a:buNone/>
            </a:pPr>
            <a:r>
              <a:rPr lang="es-ES" sz="1400" i="1" noProof="0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razón es porque está en su oficina muy concentrada haciendo tareas de sistematización y procesamiento de datos, para poder entender en que nivel de desarrollo están y cómo apoyarlos.</a:t>
            </a:r>
          </a:p>
          <a:p>
            <a:pPr marL="0" indent="0">
              <a:lnSpc>
                <a:spcPts val="1820"/>
              </a:lnSpc>
              <a:buNone/>
            </a:pPr>
            <a:endParaRPr lang="es-CL" sz="1400" i="1" dirty="0">
              <a:solidFill>
                <a:srgbClr val="DCE4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8680" y="4479003"/>
            <a:ext cx="5943600" cy="1828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4565968"/>
            <a:ext cx="5943600" cy="34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fondo</a:t>
            </a:r>
            <a:endParaRPr lang="es-CL" sz="1300" noProof="0" dirty="0"/>
          </a:p>
        </p:txBody>
      </p:sp>
      <p:sp>
        <p:nvSpPr>
          <p:cNvPr id="12" name="Text 9"/>
          <p:cNvSpPr/>
          <p:nvPr/>
        </p:nvSpPr>
        <p:spPr>
          <a:xfrm>
            <a:off x="868680" y="4913829"/>
            <a:ext cx="5943600" cy="869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5"/>
              </a:lnSpc>
              <a:buNone/>
            </a:pPr>
            <a:r>
              <a:rPr lang="es-CL" sz="1150" i="1" noProof="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 tías, están dedicando más tiempo en “tareas de escritorio” que en estar en la sala teniendo interacciones de calidad para potenciando el desarrollo de los niño/as. </a:t>
            </a:r>
            <a:endParaRPr lang="es-CL" sz="1150" noProof="0" dirty="0"/>
          </a:p>
        </p:txBody>
      </p:sp>
      <p:sp>
        <p:nvSpPr>
          <p:cNvPr id="13" name="Text 10"/>
          <p:cNvSpPr/>
          <p:nvPr/>
        </p:nvSpPr>
        <p:spPr>
          <a:xfrm>
            <a:off x="7406640" y="1826562"/>
            <a:ext cx="4206240" cy="34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 el problema</a:t>
            </a:r>
            <a:endParaRPr lang="es-CL" sz="1500" noProof="0" dirty="0"/>
          </a:p>
        </p:txBody>
      </p:sp>
      <p:sp>
        <p:nvSpPr>
          <p:cNvPr id="14" name="Shape 11"/>
          <p:cNvSpPr/>
          <p:nvPr/>
        </p:nvSpPr>
        <p:spPr>
          <a:xfrm>
            <a:off x="7406640" y="2261389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5" name="Image 1" descr="icon_o8irsi1p1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1232" y="2487498"/>
            <a:ext cx="310896" cy="2956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01000" y="2261389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#1 — Una tía demora en promedio 4</a:t>
            </a:r>
            <a:r>
              <a:rPr lang="es-CL" sz="110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horas a la semana en documentar la información de su grupo de curso.</a:t>
            </a:r>
            <a:endParaRPr lang="es-CL" sz="1100" noProof="0" dirty="0"/>
          </a:p>
        </p:txBody>
      </p:sp>
      <p:sp>
        <p:nvSpPr>
          <p:cNvPr id="17" name="Shape 13"/>
          <p:cNvSpPr/>
          <p:nvPr/>
        </p:nvSpPr>
        <p:spPr>
          <a:xfrm>
            <a:off x="7406640" y="3131041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2" descr="icon_ajam5hxbdf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1232" y="3357151"/>
            <a:ext cx="310896" cy="2956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1000" y="3131041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#2 — Son más de 11 mil horas semanales a nivel institucional, solo esta tarea. </a:t>
            </a:r>
            <a:endParaRPr lang="es-CL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7406640" y="4000694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3" descr="icon_nui2dk8zg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1232" y="4226804"/>
            <a:ext cx="310896" cy="2956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01000" y="4000694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#3 — 10% del tiempo </a:t>
            </a:r>
            <a:r>
              <a:rPr lang="es-CL" sz="110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 de trabajo semanal </a:t>
            </a:r>
            <a:r>
              <a:rPr lang="es-CL" sz="110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tía, solo en documentar. </a:t>
            </a:r>
            <a:endParaRPr lang="es-CL" sz="1100" noProof="0" dirty="0"/>
          </a:p>
        </p:txBody>
      </p:sp>
      <p:sp>
        <p:nvSpPr>
          <p:cNvPr id="23" name="Shape 17"/>
          <p:cNvSpPr/>
          <p:nvPr/>
        </p:nvSpPr>
        <p:spPr>
          <a:xfrm>
            <a:off x="7406640" y="4913828"/>
            <a:ext cx="4251960" cy="1532691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C0463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18"/>
          <p:cNvSpPr/>
          <p:nvPr/>
        </p:nvSpPr>
        <p:spPr>
          <a:xfrm>
            <a:off x="7589520" y="4913828"/>
            <a:ext cx="3931920" cy="153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s-CL" sz="1200" b="1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r>
              <a:rPr lang="es-CL" sz="1200" b="1" noProof="0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s-ES" sz="1200" noProof="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herramienta tecnológica que, usando </a:t>
            </a:r>
            <a:r>
              <a:rPr lang="es-ES" sz="120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diversos </a:t>
            </a:r>
            <a:r>
              <a:rPr lang="es-ES" sz="1200" noProof="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niño/as, generados por las tías (textos, fotos de notas que ellas ya realizan como parte de su rutina, notas de audios</a:t>
            </a:r>
            <a:r>
              <a:rPr lang="es-ES" sz="120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s-ES" sz="1200" noProof="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videos, etc.), pueda sistematizar y evaluar a cada niño/a (resguardando la integridad de la información sensible de cada niño/a).</a:t>
            </a:r>
            <a:endParaRPr lang="es-CL" sz="1200" noProof="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6975B284-4DDB-9841-1FED-2AE0371CA4D6}"/>
              </a:ext>
            </a:extLst>
          </p:cNvPr>
          <p:cNvSpPr/>
          <p:nvPr/>
        </p:nvSpPr>
        <p:spPr>
          <a:xfrm>
            <a:off x="35204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13A8-9DF1-83E8-3272-AC47A34D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0F83B0A-2C6F-3F16-FCA2-535912E6E252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lang="es-CL" sz="1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EB384-BF19-2FB8-D827-EB6CD266EE3A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para medir el desarrollo de los niño/as</a:t>
            </a:r>
            <a:endParaRPr lang="es-CL" sz="2800" noProof="0" dirty="0">
              <a:solidFill>
                <a:srgbClr val="20416F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0EF561-2EE8-A635-58A0-982AB7FAAB95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E836E72-94CD-DF7C-81D0-5AE41AC0B180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3CCA86B2-B77D-7CAA-17AA-97D711F6FDDA}"/>
              </a:ext>
            </a:extLst>
          </p:cNvPr>
          <p:cNvSpPr/>
          <p:nvPr/>
        </p:nvSpPr>
        <p:spPr>
          <a:xfrm>
            <a:off x="701040" y="1723718"/>
            <a:ext cx="3139441" cy="759140"/>
          </a:xfrm>
          <a:prstGeom prst="roundRect">
            <a:avLst>
              <a:gd name="adj" fmla="val 5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es-CL" sz="2400" noProof="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3F707E35-FD2F-1700-81CF-D1C3FD1538B7}"/>
              </a:ext>
            </a:extLst>
          </p:cNvPr>
          <p:cNvSpPr/>
          <p:nvPr/>
        </p:nvSpPr>
        <p:spPr>
          <a:xfrm>
            <a:off x="851262" y="1723718"/>
            <a:ext cx="2903139" cy="75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s-CL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núcleos de aprendizaje: </a:t>
            </a:r>
            <a:r>
              <a:rPr lang="es-CL" sz="14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s-CL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Identidad y Autonomía</a:t>
            </a:r>
            <a:r>
              <a:rPr lang="es-CL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CL" sz="1400" noProof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48EB3F59-C1A9-95DD-5979-DCDD32BFA4E0}"/>
              </a:ext>
            </a:extLst>
          </p:cNvPr>
          <p:cNvSpPr/>
          <p:nvPr/>
        </p:nvSpPr>
        <p:spPr>
          <a:xfrm>
            <a:off x="3945256" y="1721442"/>
            <a:ext cx="3818849" cy="770942"/>
          </a:xfrm>
          <a:prstGeom prst="roundRect">
            <a:avLst>
              <a:gd name="adj" fmla="val 5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CL" sz="2400" noProof="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966D0FD9-C6D2-00FA-F5AE-DA426D720203}"/>
              </a:ext>
            </a:extLst>
          </p:cNvPr>
          <p:cNvSpPr/>
          <p:nvPr/>
        </p:nvSpPr>
        <p:spPr>
          <a:xfrm>
            <a:off x="4128136" y="1721442"/>
            <a:ext cx="3531409" cy="770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s-CL" sz="14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niveles de desarrollo en cada núcleo: </a:t>
            </a:r>
            <a:r>
              <a:rPr lang="es-CL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contienen el nivel de desarrollo esperado y las conductas observables para medirlo</a:t>
            </a:r>
            <a:endParaRPr lang="es-CL" sz="1400" noProof="0" dirty="0">
              <a:solidFill>
                <a:schemeClr val="accent6"/>
              </a:solidFill>
            </a:endParaRPr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C8417600-2AA2-D49A-81F9-B8E5E43FDF10}"/>
              </a:ext>
            </a:extLst>
          </p:cNvPr>
          <p:cNvSpPr/>
          <p:nvPr/>
        </p:nvSpPr>
        <p:spPr>
          <a:xfrm>
            <a:off x="7868880" y="1721442"/>
            <a:ext cx="3498255" cy="761416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C0463B"/>
            </a:solidFill>
            <a:prstDash val="solid"/>
          </a:ln>
        </p:spPr>
        <p:txBody>
          <a:bodyPr/>
          <a:lstStyle/>
          <a:p>
            <a:endParaRPr lang="es-CL" sz="2400" noProof="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AAFA4202-3765-C77D-7954-8A7D3B93029A}"/>
              </a:ext>
            </a:extLst>
          </p:cNvPr>
          <p:cNvSpPr/>
          <p:nvPr/>
        </p:nvSpPr>
        <p:spPr>
          <a:xfrm>
            <a:off x="8051760" y="1721442"/>
            <a:ext cx="3234945" cy="7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s-CL" sz="1400" b="1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niveles educativos: </a:t>
            </a:r>
            <a:r>
              <a:rPr lang="es-CL" sz="1400" b="1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cuna, nivel medio y transición</a:t>
            </a:r>
            <a:endParaRPr lang="es-CL" sz="1400" noProof="0" dirty="0"/>
          </a:p>
        </p:txBody>
      </p:sp>
      <p:sp>
        <p:nvSpPr>
          <p:cNvPr id="39" name="Nivel 1 barra">
            <a:extLst>
              <a:ext uri="{FF2B5EF4-FFF2-40B4-BE49-F238E27FC236}">
                <a16:creationId xmlns:a16="http://schemas.microsoft.com/office/drawing/2014/main" id="{F95FBD37-D088-4765-084A-FA20336A770C}"/>
              </a:ext>
            </a:extLst>
          </p:cNvPr>
          <p:cNvSpPr/>
          <p:nvPr/>
        </p:nvSpPr>
        <p:spPr>
          <a:xfrm>
            <a:off x="699724" y="4434461"/>
            <a:ext cx="1086623" cy="685800"/>
          </a:xfrm>
          <a:prstGeom prst="roundRect">
            <a:avLst>
              <a:gd name="adj" fmla="val 14545"/>
            </a:avLst>
          </a:prstGeom>
          <a:solidFill>
            <a:srgbClr val="E067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Nivel 1 base">
            <a:extLst>
              <a:ext uri="{FF2B5EF4-FFF2-40B4-BE49-F238E27FC236}">
                <a16:creationId xmlns:a16="http://schemas.microsoft.com/office/drawing/2014/main" id="{835C2CE8-EFB4-9FEE-3230-4E5335E97433}"/>
              </a:ext>
            </a:extLst>
          </p:cNvPr>
          <p:cNvSpPr/>
          <p:nvPr/>
        </p:nvSpPr>
        <p:spPr>
          <a:xfrm>
            <a:off x="699724" y="5230190"/>
            <a:ext cx="1086623" cy="99753"/>
          </a:xfrm>
          <a:prstGeom prst="rect">
            <a:avLst/>
          </a:prstGeom>
          <a:solidFill>
            <a:srgbClr val="E067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Nivel 1 número">
            <a:extLst>
              <a:ext uri="{FF2B5EF4-FFF2-40B4-BE49-F238E27FC236}">
                <a16:creationId xmlns:a16="http://schemas.microsoft.com/office/drawing/2014/main" id="{92A79075-8B63-8709-5403-21C769BF2099}"/>
              </a:ext>
            </a:extLst>
          </p:cNvPr>
          <p:cNvSpPr txBox="1"/>
          <p:nvPr/>
        </p:nvSpPr>
        <p:spPr>
          <a:xfrm>
            <a:off x="699724" y="4457301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Nivel 1 nombre">
            <a:extLst>
              <a:ext uri="{FF2B5EF4-FFF2-40B4-BE49-F238E27FC236}">
                <a16:creationId xmlns:a16="http://schemas.microsoft.com/office/drawing/2014/main" id="{C25F7608-A654-CF8C-C72E-7E9D47C528E9}"/>
              </a:ext>
            </a:extLst>
          </p:cNvPr>
          <p:cNvSpPr txBox="1"/>
          <p:nvPr/>
        </p:nvSpPr>
        <p:spPr>
          <a:xfrm>
            <a:off x="629258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Comenzando</a:t>
            </a:r>
            <a:endParaRPr lang="en-US" sz="1400" dirty="0"/>
          </a:p>
        </p:txBody>
      </p:sp>
      <p:sp>
        <p:nvSpPr>
          <p:cNvPr id="47" name="Nivel 2 barra">
            <a:extLst>
              <a:ext uri="{FF2B5EF4-FFF2-40B4-BE49-F238E27FC236}">
                <a16:creationId xmlns:a16="http://schemas.microsoft.com/office/drawing/2014/main" id="{7D9DE629-2602-0535-150F-371253D6D859}"/>
              </a:ext>
            </a:extLst>
          </p:cNvPr>
          <p:cNvSpPr/>
          <p:nvPr/>
        </p:nvSpPr>
        <p:spPr>
          <a:xfrm>
            <a:off x="2052670" y="4190697"/>
            <a:ext cx="1086623" cy="935182"/>
          </a:xfrm>
          <a:prstGeom prst="roundRect">
            <a:avLst>
              <a:gd name="adj" fmla="val 10667"/>
            </a:avLst>
          </a:prstGeom>
          <a:solidFill>
            <a:srgbClr val="EE8A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Nivel 2 base">
            <a:extLst>
              <a:ext uri="{FF2B5EF4-FFF2-40B4-BE49-F238E27FC236}">
                <a16:creationId xmlns:a16="http://schemas.microsoft.com/office/drawing/2014/main" id="{BF3B3EA4-40E3-76A5-0DA2-6BD717289699}"/>
              </a:ext>
            </a:extLst>
          </p:cNvPr>
          <p:cNvSpPr/>
          <p:nvPr/>
        </p:nvSpPr>
        <p:spPr>
          <a:xfrm>
            <a:off x="2052670" y="5230190"/>
            <a:ext cx="1086623" cy="99753"/>
          </a:xfrm>
          <a:prstGeom prst="rect">
            <a:avLst/>
          </a:prstGeom>
          <a:solidFill>
            <a:srgbClr val="EE8A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Nivel 2 número">
            <a:extLst>
              <a:ext uri="{FF2B5EF4-FFF2-40B4-BE49-F238E27FC236}">
                <a16:creationId xmlns:a16="http://schemas.microsoft.com/office/drawing/2014/main" id="{30D22A1A-D31D-41F0-0872-39579ACA1341}"/>
              </a:ext>
            </a:extLst>
          </p:cNvPr>
          <p:cNvSpPr txBox="1"/>
          <p:nvPr/>
        </p:nvSpPr>
        <p:spPr>
          <a:xfrm>
            <a:off x="2052670" y="4261162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Nivel 2 nombre">
            <a:extLst>
              <a:ext uri="{FF2B5EF4-FFF2-40B4-BE49-F238E27FC236}">
                <a16:creationId xmlns:a16="http://schemas.microsoft.com/office/drawing/2014/main" id="{4F1A6AE4-312E-3C36-9C06-C6698352C239}"/>
              </a:ext>
            </a:extLst>
          </p:cNvPr>
          <p:cNvSpPr txBox="1"/>
          <p:nvPr/>
        </p:nvSpPr>
        <p:spPr>
          <a:xfrm>
            <a:off x="1982204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Explorando</a:t>
            </a:r>
            <a:endParaRPr lang="en-US" sz="1400" dirty="0"/>
          </a:p>
        </p:txBody>
      </p:sp>
      <p:sp>
        <p:nvSpPr>
          <p:cNvPr id="55" name="Nivel 3 barra">
            <a:extLst>
              <a:ext uri="{FF2B5EF4-FFF2-40B4-BE49-F238E27FC236}">
                <a16:creationId xmlns:a16="http://schemas.microsoft.com/office/drawing/2014/main" id="{D9651497-B800-34DB-320A-DF30233A247F}"/>
              </a:ext>
            </a:extLst>
          </p:cNvPr>
          <p:cNvSpPr/>
          <p:nvPr/>
        </p:nvSpPr>
        <p:spPr>
          <a:xfrm>
            <a:off x="3405616" y="3918358"/>
            <a:ext cx="1086623" cy="1184564"/>
          </a:xfrm>
          <a:prstGeom prst="roundRect">
            <a:avLst>
              <a:gd name="adj" fmla="val 9091"/>
            </a:avLst>
          </a:prstGeom>
          <a:solidFill>
            <a:srgbClr val="F2C9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Nivel 3 base">
            <a:extLst>
              <a:ext uri="{FF2B5EF4-FFF2-40B4-BE49-F238E27FC236}">
                <a16:creationId xmlns:a16="http://schemas.microsoft.com/office/drawing/2014/main" id="{20167CE7-445A-37F9-AC4F-0CA225127630}"/>
              </a:ext>
            </a:extLst>
          </p:cNvPr>
          <p:cNvSpPr/>
          <p:nvPr/>
        </p:nvSpPr>
        <p:spPr>
          <a:xfrm>
            <a:off x="3405616" y="5230190"/>
            <a:ext cx="1086623" cy="99753"/>
          </a:xfrm>
          <a:prstGeom prst="rect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Nivel 3 número">
            <a:extLst>
              <a:ext uri="{FF2B5EF4-FFF2-40B4-BE49-F238E27FC236}">
                <a16:creationId xmlns:a16="http://schemas.microsoft.com/office/drawing/2014/main" id="{DE8F9353-5AF4-A34A-3435-49F721CF8E1D}"/>
              </a:ext>
            </a:extLst>
          </p:cNvPr>
          <p:cNvSpPr txBox="1"/>
          <p:nvPr/>
        </p:nvSpPr>
        <p:spPr>
          <a:xfrm>
            <a:off x="3405616" y="3988823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Nivel 3 nombre">
            <a:extLst>
              <a:ext uri="{FF2B5EF4-FFF2-40B4-BE49-F238E27FC236}">
                <a16:creationId xmlns:a16="http://schemas.microsoft.com/office/drawing/2014/main" id="{E8168190-5118-A9FB-9D60-6BA0B5BF2247}"/>
              </a:ext>
            </a:extLst>
          </p:cNvPr>
          <p:cNvSpPr txBox="1"/>
          <p:nvPr/>
        </p:nvSpPr>
        <p:spPr>
          <a:xfrm>
            <a:off x="3335150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Desarrollando</a:t>
            </a:r>
            <a:endParaRPr lang="en-US" sz="1400" dirty="0"/>
          </a:p>
        </p:txBody>
      </p:sp>
      <p:sp>
        <p:nvSpPr>
          <p:cNvPr id="63" name="Nivel 4 barra">
            <a:extLst>
              <a:ext uri="{FF2B5EF4-FFF2-40B4-BE49-F238E27FC236}">
                <a16:creationId xmlns:a16="http://schemas.microsoft.com/office/drawing/2014/main" id="{BF84F564-770E-D587-4545-FE58E86D6E32}"/>
              </a:ext>
            </a:extLst>
          </p:cNvPr>
          <p:cNvSpPr/>
          <p:nvPr/>
        </p:nvSpPr>
        <p:spPr>
          <a:xfrm>
            <a:off x="4758563" y="3674595"/>
            <a:ext cx="1086623" cy="1433946"/>
          </a:xfrm>
          <a:prstGeom prst="roundRect">
            <a:avLst>
              <a:gd name="adj" fmla="val 9091"/>
            </a:avLst>
          </a:prstGeom>
          <a:solidFill>
            <a:srgbClr val="9BC5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5" name="Nivel 4 base">
            <a:extLst>
              <a:ext uri="{FF2B5EF4-FFF2-40B4-BE49-F238E27FC236}">
                <a16:creationId xmlns:a16="http://schemas.microsoft.com/office/drawing/2014/main" id="{3279DA5D-D8F0-6DD6-8A82-9D296BD1F4BF}"/>
              </a:ext>
            </a:extLst>
          </p:cNvPr>
          <p:cNvSpPr/>
          <p:nvPr/>
        </p:nvSpPr>
        <p:spPr>
          <a:xfrm>
            <a:off x="4758563" y="5230190"/>
            <a:ext cx="1086623" cy="99753"/>
          </a:xfrm>
          <a:prstGeom prst="rect">
            <a:avLst/>
          </a:prstGeom>
          <a:solidFill>
            <a:srgbClr val="9BC5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Nivel 4 número">
            <a:extLst>
              <a:ext uri="{FF2B5EF4-FFF2-40B4-BE49-F238E27FC236}">
                <a16:creationId xmlns:a16="http://schemas.microsoft.com/office/drawing/2014/main" id="{A7B81A3E-9E60-0DD0-CCB2-AC433A8FE3A6}"/>
              </a:ext>
            </a:extLst>
          </p:cNvPr>
          <p:cNvSpPr txBox="1"/>
          <p:nvPr/>
        </p:nvSpPr>
        <p:spPr>
          <a:xfrm>
            <a:off x="4758563" y="3745060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Nivel 4 nombre">
            <a:extLst>
              <a:ext uri="{FF2B5EF4-FFF2-40B4-BE49-F238E27FC236}">
                <a16:creationId xmlns:a16="http://schemas.microsoft.com/office/drawing/2014/main" id="{AAE2CAEF-35F2-7A8D-F484-02C6E63F78F8}"/>
              </a:ext>
            </a:extLst>
          </p:cNvPr>
          <p:cNvSpPr txBox="1"/>
          <p:nvPr/>
        </p:nvSpPr>
        <p:spPr>
          <a:xfrm>
            <a:off x="4688097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Afianzando</a:t>
            </a:r>
            <a:endParaRPr lang="en-US" sz="1400" dirty="0"/>
          </a:p>
        </p:txBody>
      </p:sp>
      <p:sp>
        <p:nvSpPr>
          <p:cNvPr id="71" name="Nivel 5 barra">
            <a:extLst>
              <a:ext uri="{FF2B5EF4-FFF2-40B4-BE49-F238E27FC236}">
                <a16:creationId xmlns:a16="http://schemas.microsoft.com/office/drawing/2014/main" id="{CE7408C5-6C7F-C27B-DB56-9E607F6297FA}"/>
              </a:ext>
            </a:extLst>
          </p:cNvPr>
          <p:cNvSpPr/>
          <p:nvPr/>
        </p:nvSpPr>
        <p:spPr>
          <a:xfrm>
            <a:off x="6111509" y="3440355"/>
            <a:ext cx="1086623" cy="1683329"/>
          </a:xfrm>
          <a:prstGeom prst="roundRect">
            <a:avLst>
              <a:gd name="adj" fmla="val 9091"/>
            </a:avLst>
          </a:prstGeom>
          <a:solidFill>
            <a:srgbClr val="5B9E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Nivel 5 base">
            <a:extLst>
              <a:ext uri="{FF2B5EF4-FFF2-40B4-BE49-F238E27FC236}">
                <a16:creationId xmlns:a16="http://schemas.microsoft.com/office/drawing/2014/main" id="{DB07E364-923D-640A-F471-F8791999326A}"/>
              </a:ext>
            </a:extLst>
          </p:cNvPr>
          <p:cNvSpPr/>
          <p:nvPr/>
        </p:nvSpPr>
        <p:spPr>
          <a:xfrm>
            <a:off x="6111509" y="5230190"/>
            <a:ext cx="1086623" cy="99753"/>
          </a:xfrm>
          <a:prstGeom prst="rect">
            <a:avLst/>
          </a:prstGeom>
          <a:solidFill>
            <a:srgbClr val="5B9E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Nivel 5 número">
            <a:extLst>
              <a:ext uri="{FF2B5EF4-FFF2-40B4-BE49-F238E27FC236}">
                <a16:creationId xmlns:a16="http://schemas.microsoft.com/office/drawing/2014/main" id="{08CB9AB3-A2B1-E1D7-C380-D22138549A33}"/>
              </a:ext>
            </a:extLst>
          </p:cNvPr>
          <p:cNvSpPr txBox="1"/>
          <p:nvPr/>
        </p:nvSpPr>
        <p:spPr>
          <a:xfrm>
            <a:off x="6111509" y="3510821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7" name="Nivel 5 nombre">
            <a:extLst>
              <a:ext uri="{FF2B5EF4-FFF2-40B4-BE49-F238E27FC236}">
                <a16:creationId xmlns:a16="http://schemas.microsoft.com/office/drawing/2014/main" id="{E772F920-ECAF-B19A-0920-587BF89C97BA}"/>
              </a:ext>
            </a:extLst>
          </p:cNvPr>
          <p:cNvSpPr txBox="1"/>
          <p:nvPr/>
        </p:nvSpPr>
        <p:spPr>
          <a:xfrm>
            <a:off x="6041043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Integrando</a:t>
            </a:r>
            <a:endParaRPr lang="en-US" sz="1400" dirty="0"/>
          </a:p>
        </p:txBody>
      </p:sp>
      <p:sp>
        <p:nvSpPr>
          <p:cNvPr id="79" name="Nivel 6 barra">
            <a:extLst>
              <a:ext uri="{FF2B5EF4-FFF2-40B4-BE49-F238E27FC236}">
                <a16:creationId xmlns:a16="http://schemas.microsoft.com/office/drawing/2014/main" id="{6CC7217E-BD6B-C4BE-5120-72EAA80B7CDA}"/>
              </a:ext>
            </a:extLst>
          </p:cNvPr>
          <p:cNvSpPr/>
          <p:nvPr/>
        </p:nvSpPr>
        <p:spPr>
          <a:xfrm>
            <a:off x="7464455" y="3177541"/>
            <a:ext cx="1086623" cy="1932710"/>
          </a:xfrm>
          <a:prstGeom prst="roundRect">
            <a:avLst>
              <a:gd name="adj" fmla="val 9091"/>
            </a:avLst>
          </a:prstGeom>
          <a:solidFill>
            <a:srgbClr val="3B9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Nivel 6 base">
            <a:extLst>
              <a:ext uri="{FF2B5EF4-FFF2-40B4-BE49-F238E27FC236}">
                <a16:creationId xmlns:a16="http://schemas.microsoft.com/office/drawing/2014/main" id="{F465A0EF-96E6-5B56-BEAA-8D4D6B948BFD}"/>
              </a:ext>
            </a:extLst>
          </p:cNvPr>
          <p:cNvSpPr/>
          <p:nvPr/>
        </p:nvSpPr>
        <p:spPr>
          <a:xfrm>
            <a:off x="7464455" y="5230190"/>
            <a:ext cx="1086623" cy="99753"/>
          </a:xfrm>
          <a:prstGeom prst="rect">
            <a:avLst/>
          </a:prstGeom>
          <a:solidFill>
            <a:srgbClr val="3B9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Nivel 6 número">
            <a:extLst>
              <a:ext uri="{FF2B5EF4-FFF2-40B4-BE49-F238E27FC236}">
                <a16:creationId xmlns:a16="http://schemas.microsoft.com/office/drawing/2014/main" id="{BD0BE048-0596-837C-E33E-A4740173ED56}"/>
              </a:ext>
            </a:extLst>
          </p:cNvPr>
          <p:cNvSpPr txBox="1"/>
          <p:nvPr/>
        </p:nvSpPr>
        <p:spPr>
          <a:xfrm>
            <a:off x="7464455" y="3248007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5" name="Nivel 6 nombre">
            <a:extLst>
              <a:ext uri="{FF2B5EF4-FFF2-40B4-BE49-F238E27FC236}">
                <a16:creationId xmlns:a16="http://schemas.microsoft.com/office/drawing/2014/main" id="{FCEDD300-E38C-05A8-488F-DD0B2D19627A}"/>
              </a:ext>
            </a:extLst>
          </p:cNvPr>
          <p:cNvSpPr txBox="1"/>
          <p:nvPr/>
        </p:nvSpPr>
        <p:spPr>
          <a:xfrm>
            <a:off x="7393989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Ampliando</a:t>
            </a:r>
            <a:endParaRPr lang="en-US" sz="1400" dirty="0"/>
          </a:p>
        </p:txBody>
      </p:sp>
      <p:sp>
        <p:nvSpPr>
          <p:cNvPr id="87" name="Nivel 7 barra">
            <a:extLst>
              <a:ext uri="{FF2B5EF4-FFF2-40B4-BE49-F238E27FC236}">
                <a16:creationId xmlns:a16="http://schemas.microsoft.com/office/drawing/2014/main" id="{55FECD85-5B9A-26DA-BD99-C7F7C7256655}"/>
              </a:ext>
            </a:extLst>
          </p:cNvPr>
          <p:cNvSpPr/>
          <p:nvPr/>
        </p:nvSpPr>
        <p:spPr>
          <a:xfrm>
            <a:off x="8817401" y="2924252"/>
            <a:ext cx="1086623" cy="2182092"/>
          </a:xfrm>
          <a:prstGeom prst="roundRect">
            <a:avLst>
              <a:gd name="adj" fmla="val 9091"/>
            </a:avLst>
          </a:prstGeom>
          <a:solidFill>
            <a:srgbClr val="3A7BC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Nivel 7 base">
            <a:extLst>
              <a:ext uri="{FF2B5EF4-FFF2-40B4-BE49-F238E27FC236}">
                <a16:creationId xmlns:a16="http://schemas.microsoft.com/office/drawing/2014/main" id="{E44C47E0-8B76-58AC-6600-EF367D57C846}"/>
              </a:ext>
            </a:extLst>
          </p:cNvPr>
          <p:cNvSpPr/>
          <p:nvPr/>
        </p:nvSpPr>
        <p:spPr>
          <a:xfrm>
            <a:off x="8817401" y="5230190"/>
            <a:ext cx="1086623" cy="99753"/>
          </a:xfrm>
          <a:prstGeom prst="rect">
            <a:avLst/>
          </a:prstGeom>
          <a:solidFill>
            <a:srgbClr val="3A7BC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Nivel 7 número">
            <a:extLst>
              <a:ext uri="{FF2B5EF4-FFF2-40B4-BE49-F238E27FC236}">
                <a16:creationId xmlns:a16="http://schemas.microsoft.com/office/drawing/2014/main" id="{B48440B4-2C76-CA33-D761-1D72A6A0E1BB}"/>
              </a:ext>
            </a:extLst>
          </p:cNvPr>
          <p:cNvSpPr txBox="1"/>
          <p:nvPr/>
        </p:nvSpPr>
        <p:spPr>
          <a:xfrm>
            <a:off x="8817401" y="2994718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3" name="Nivel 7 nombre">
            <a:extLst>
              <a:ext uri="{FF2B5EF4-FFF2-40B4-BE49-F238E27FC236}">
                <a16:creationId xmlns:a16="http://schemas.microsoft.com/office/drawing/2014/main" id="{E27DF52A-5D17-BC54-9B79-65E01CC4ED99}"/>
              </a:ext>
            </a:extLst>
          </p:cNvPr>
          <p:cNvSpPr txBox="1"/>
          <p:nvPr/>
        </p:nvSpPr>
        <p:spPr>
          <a:xfrm>
            <a:off x="8746935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</a:t>
            </a:r>
            <a:endParaRPr lang="en-US" sz="1400" dirty="0"/>
          </a:p>
        </p:txBody>
      </p:sp>
      <p:sp>
        <p:nvSpPr>
          <p:cNvPr id="95" name="Nivel 8 barra">
            <a:extLst>
              <a:ext uri="{FF2B5EF4-FFF2-40B4-BE49-F238E27FC236}">
                <a16:creationId xmlns:a16="http://schemas.microsoft.com/office/drawing/2014/main" id="{FA43FAA2-FAE7-DFC1-1CB2-A95F1ADFCFB9}"/>
              </a:ext>
            </a:extLst>
          </p:cNvPr>
          <p:cNvSpPr/>
          <p:nvPr/>
        </p:nvSpPr>
        <p:spPr>
          <a:xfrm>
            <a:off x="10170347" y="2661438"/>
            <a:ext cx="1086623" cy="2431474"/>
          </a:xfrm>
          <a:prstGeom prst="roundRect">
            <a:avLst>
              <a:gd name="adj" fmla="val 9091"/>
            </a:avLst>
          </a:prstGeom>
          <a:solidFill>
            <a:srgbClr val="20416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7" name="Nivel 8 base">
            <a:extLst>
              <a:ext uri="{FF2B5EF4-FFF2-40B4-BE49-F238E27FC236}">
                <a16:creationId xmlns:a16="http://schemas.microsoft.com/office/drawing/2014/main" id="{0D06D64F-A888-DB94-5640-2534A07CA495}"/>
              </a:ext>
            </a:extLst>
          </p:cNvPr>
          <p:cNvSpPr/>
          <p:nvPr/>
        </p:nvSpPr>
        <p:spPr>
          <a:xfrm>
            <a:off x="10170347" y="5230190"/>
            <a:ext cx="1086623" cy="99753"/>
          </a:xfrm>
          <a:prstGeom prst="rect">
            <a:avLst/>
          </a:prstGeom>
          <a:solidFill>
            <a:srgbClr val="20416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9" name="Nivel 8 número">
            <a:extLst>
              <a:ext uri="{FF2B5EF4-FFF2-40B4-BE49-F238E27FC236}">
                <a16:creationId xmlns:a16="http://schemas.microsoft.com/office/drawing/2014/main" id="{C21ECEDC-6DD4-7414-8A31-D0568F68AF4D}"/>
              </a:ext>
            </a:extLst>
          </p:cNvPr>
          <p:cNvSpPr txBox="1"/>
          <p:nvPr/>
        </p:nvSpPr>
        <p:spPr>
          <a:xfrm>
            <a:off x="10170347" y="2731904"/>
            <a:ext cx="1086623" cy="59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1" name="Nivel 8 nombre">
            <a:extLst>
              <a:ext uri="{FF2B5EF4-FFF2-40B4-BE49-F238E27FC236}">
                <a16:creationId xmlns:a16="http://schemas.microsoft.com/office/drawing/2014/main" id="{A06FEDC6-3FF9-481B-A6E9-066021240688}"/>
              </a:ext>
            </a:extLst>
          </p:cNvPr>
          <p:cNvSpPr txBox="1"/>
          <p:nvPr/>
        </p:nvSpPr>
        <p:spPr>
          <a:xfrm>
            <a:off x="10099882" y="5441588"/>
            <a:ext cx="1210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Profundizando</a:t>
            </a:r>
            <a:endParaRPr lang="en-US" sz="1400" dirty="0"/>
          </a:p>
        </p:txBody>
      </p:sp>
      <p:sp>
        <p:nvSpPr>
          <p:cNvPr id="103" name="Flecha progresión">
            <a:extLst>
              <a:ext uri="{FF2B5EF4-FFF2-40B4-BE49-F238E27FC236}">
                <a16:creationId xmlns:a16="http://schemas.microsoft.com/office/drawing/2014/main" id="{05E1EC2C-3AD3-3DFC-B861-F113BDB5CB45}"/>
              </a:ext>
            </a:extLst>
          </p:cNvPr>
          <p:cNvSpPr/>
          <p:nvPr/>
        </p:nvSpPr>
        <p:spPr>
          <a:xfrm flipV="1">
            <a:off x="699723" y="5845254"/>
            <a:ext cx="10610261" cy="0"/>
          </a:xfrm>
          <a:prstGeom prst="line">
            <a:avLst/>
          </a:prstGeom>
          <a:noFill/>
          <a:ln w="50800">
            <a:solidFill>
              <a:srgbClr val="D7DEE8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3CAD3-2A3F-F575-5BE9-FB20B3B2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B7BBDB61-6BA8-C148-E60D-EE60AED307FF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BA97755B-92C5-8932-66CD-AEC4837352C4}"/>
              </a:ext>
            </a:extLst>
          </p:cNvPr>
          <p:cNvSpPr/>
          <p:nvPr/>
        </p:nvSpPr>
        <p:spPr>
          <a:xfrm>
            <a:off x="10703254" y="54687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s-CL" sz="9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F589EF5F-B76C-3043-96FB-9322472C8D7F}"/>
              </a:ext>
            </a:extLst>
          </p:cNvPr>
          <p:cNvSpPr/>
          <p:nvPr/>
        </p:nvSpPr>
        <p:spPr>
          <a:xfrm>
            <a:off x="5483352" y="1611585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2" name="Image 0" descr="icon_fws5nuonib4.svg">
            <a:extLst>
              <a:ext uri="{FF2B5EF4-FFF2-40B4-BE49-F238E27FC236}">
                <a16:creationId xmlns:a16="http://schemas.microsoft.com/office/drawing/2014/main" id="{AD6015C0-1BA0-7553-9128-0CC9295FE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0512" y="1720601"/>
            <a:ext cx="256032" cy="218032"/>
          </a:xfrm>
          <a:prstGeom prst="rect">
            <a:avLst/>
          </a:prstGeom>
        </p:spPr>
      </p:pic>
      <p:sp>
        <p:nvSpPr>
          <p:cNvPr id="35" name="Text 20">
            <a:extLst>
              <a:ext uri="{FF2B5EF4-FFF2-40B4-BE49-F238E27FC236}">
                <a16:creationId xmlns:a16="http://schemas.microsoft.com/office/drawing/2014/main" id="{3B9CE364-DC43-23DE-1B12-BCF0948EDF51}"/>
              </a:ext>
            </a:extLst>
          </p:cNvPr>
          <p:cNvSpPr/>
          <p:nvPr/>
        </p:nvSpPr>
        <p:spPr>
          <a:xfrm>
            <a:off x="5986272" y="1611585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1.000 días de vida</a:t>
            </a:r>
            <a:endParaRPr lang="es-CL" sz="1050" noProof="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C2BD14E5-3758-CA43-D97B-C45D9187500C}"/>
              </a:ext>
            </a:extLst>
          </p:cNvPr>
          <p:cNvSpPr/>
          <p:nvPr/>
        </p:nvSpPr>
        <p:spPr>
          <a:xfrm>
            <a:off x="5483352" y="2165002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3" name="Image 2" descr="icon_8bu3ql6irzw.svg">
            <a:extLst>
              <a:ext uri="{FF2B5EF4-FFF2-40B4-BE49-F238E27FC236}">
                <a16:creationId xmlns:a16="http://schemas.microsoft.com/office/drawing/2014/main" id="{4722520B-A996-6A3F-9047-073AF1E06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0512" y="2274019"/>
            <a:ext cx="256032" cy="218032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F1EA51C6-1A89-2202-968B-D3F175C38979}"/>
              </a:ext>
            </a:extLst>
          </p:cNvPr>
          <p:cNvSpPr/>
          <p:nvPr/>
        </p:nvSpPr>
        <p:spPr>
          <a:xfrm>
            <a:off x="5986272" y="2165002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s-CL" sz="105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millón de conexiones neuronales por segundo</a:t>
            </a:r>
            <a:endParaRPr lang="es-CL" sz="1050" noProof="0" dirty="0"/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BCC2E210-C81F-C41B-7B91-A5DA3ED5D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76" y="1810512"/>
            <a:ext cx="3771613" cy="3877056"/>
          </a:xfrm>
          <a:prstGeom prst="roundRect">
            <a:avLst>
              <a:gd name="adj" fmla="val 9740"/>
            </a:avLst>
          </a:prstGeom>
        </p:spPr>
      </p:pic>
      <p:sp>
        <p:nvSpPr>
          <p:cNvPr id="154" name="Shape 25">
            <a:extLst>
              <a:ext uri="{FF2B5EF4-FFF2-40B4-BE49-F238E27FC236}">
                <a16:creationId xmlns:a16="http://schemas.microsoft.com/office/drawing/2014/main" id="{84A73F10-A074-4359-DF34-2B4FFCDD428F}"/>
              </a:ext>
            </a:extLst>
          </p:cNvPr>
          <p:cNvSpPr/>
          <p:nvPr/>
        </p:nvSpPr>
        <p:spPr>
          <a:xfrm>
            <a:off x="5483352" y="2703772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56" name="Image 3" descr="icon_7q55bujzf94.svg">
            <a:extLst>
              <a:ext uri="{FF2B5EF4-FFF2-40B4-BE49-F238E27FC236}">
                <a16:creationId xmlns:a16="http://schemas.microsoft.com/office/drawing/2014/main" id="{B5FD8891-91F4-C58B-594E-203BA10F7D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0512" y="2812788"/>
            <a:ext cx="256032" cy="218032"/>
          </a:xfrm>
          <a:prstGeom prst="rect">
            <a:avLst/>
          </a:prstGeom>
        </p:spPr>
      </p:pic>
      <p:sp>
        <p:nvSpPr>
          <p:cNvPr id="158" name="Text 26">
            <a:extLst>
              <a:ext uri="{FF2B5EF4-FFF2-40B4-BE49-F238E27FC236}">
                <a16:creationId xmlns:a16="http://schemas.microsoft.com/office/drawing/2014/main" id="{5208925B-B064-BDD7-AFEB-668BCCF8B883}"/>
              </a:ext>
            </a:extLst>
          </p:cNvPr>
          <p:cNvSpPr/>
          <p:nvPr/>
        </p:nvSpPr>
        <p:spPr>
          <a:xfrm>
            <a:off x="5986272" y="2703772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ventana de oportunidad que no vuelve a repetirse con la misma intensidad</a:t>
            </a:r>
            <a:endParaRPr lang="es-CL" sz="1050" noProof="0" dirty="0"/>
          </a:p>
        </p:txBody>
      </p:sp>
      <p:sp>
        <p:nvSpPr>
          <p:cNvPr id="165" name="Text 1">
            <a:extLst>
              <a:ext uri="{FF2B5EF4-FFF2-40B4-BE49-F238E27FC236}">
                <a16:creationId xmlns:a16="http://schemas.microsoft.com/office/drawing/2014/main" id="{81740B95-3846-DCFF-7D38-3D5CA5A6EDEC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lang="es-CL" sz="1200" noProof="0" dirty="0"/>
          </a:p>
        </p:txBody>
      </p:sp>
      <p:sp>
        <p:nvSpPr>
          <p:cNvPr id="167" name="Text 2">
            <a:extLst>
              <a:ext uri="{FF2B5EF4-FFF2-40B4-BE49-F238E27FC236}">
                <a16:creationId xmlns:a16="http://schemas.microsoft.com/office/drawing/2014/main" id="{711D90F3-8A81-01B9-6EF4-B83CF6D03AB1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s-CL" sz="2800" noProof="0" dirty="0">
              <a:solidFill>
                <a:srgbClr val="20416F"/>
              </a:solidFill>
            </a:endParaRPr>
          </a:p>
        </p:txBody>
      </p:sp>
      <p:sp>
        <p:nvSpPr>
          <p:cNvPr id="199" name="Shape 4">
            <a:extLst>
              <a:ext uri="{FF2B5EF4-FFF2-40B4-BE49-F238E27FC236}">
                <a16:creationId xmlns:a16="http://schemas.microsoft.com/office/drawing/2014/main" id="{D3FCA894-BED3-A533-1220-1E039656535B}"/>
              </a:ext>
            </a:extLst>
          </p:cNvPr>
          <p:cNvSpPr/>
          <p:nvPr/>
        </p:nvSpPr>
        <p:spPr>
          <a:xfrm>
            <a:off x="5094950" y="3220315"/>
            <a:ext cx="1994535" cy="172649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sp>
        <p:nvSpPr>
          <p:cNvPr id="201" name="Shape 5">
            <a:extLst>
              <a:ext uri="{FF2B5EF4-FFF2-40B4-BE49-F238E27FC236}">
                <a16:creationId xmlns:a16="http://schemas.microsoft.com/office/drawing/2014/main" id="{1C81B6CB-6B1A-D484-D551-3FF961260A7B}"/>
              </a:ext>
            </a:extLst>
          </p:cNvPr>
          <p:cNvSpPr/>
          <p:nvPr/>
        </p:nvSpPr>
        <p:spPr>
          <a:xfrm>
            <a:off x="5300690" y="3357877"/>
            <a:ext cx="429204" cy="611465"/>
          </a:xfrm>
          <a:prstGeom prst="ellipse">
            <a:avLst/>
          </a:prstGeom>
          <a:solidFill>
            <a:srgbClr val="3B7F8D">
              <a:alpha val="15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03" name="Image 0" descr="icon_03wu7k3zcjkd.svg">
            <a:extLst>
              <a:ext uri="{FF2B5EF4-FFF2-40B4-BE49-F238E27FC236}">
                <a16:creationId xmlns:a16="http://schemas.microsoft.com/office/drawing/2014/main" id="{E20F010C-2DED-7568-BD90-759A3D05D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6138" y="3507308"/>
            <a:ext cx="374170" cy="359685"/>
          </a:xfrm>
          <a:prstGeom prst="rect">
            <a:avLst/>
          </a:prstGeom>
        </p:spPr>
      </p:pic>
      <p:sp>
        <p:nvSpPr>
          <p:cNvPr id="205" name="Text 6">
            <a:extLst>
              <a:ext uri="{FF2B5EF4-FFF2-40B4-BE49-F238E27FC236}">
                <a16:creationId xmlns:a16="http://schemas.microsoft.com/office/drawing/2014/main" id="{6AD974CD-C3D3-6FE5-DB88-2CDD6CC5E90A}"/>
              </a:ext>
            </a:extLst>
          </p:cNvPr>
          <p:cNvSpPr/>
          <p:nvPr/>
        </p:nvSpPr>
        <p:spPr>
          <a:xfrm>
            <a:off x="5300690" y="4192932"/>
            <a:ext cx="1641073" cy="287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para el sector</a:t>
            </a:r>
            <a:endParaRPr lang="es-CL" sz="1400" noProof="0" dirty="0"/>
          </a:p>
        </p:txBody>
      </p:sp>
      <p:sp>
        <p:nvSpPr>
          <p:cNvPr id="207" name="Text 7">
            <a:extLst>
              <a:ext uri="{FF2B5EF4-FFF2-40B4-BE49-F238E27FC236}">
                <a16:creationId xmlns:a16="http://schemas.microsoft.com/office/drawing/2014/main" id="{D9DC1CF0-27CC-86B1-28BA-0C6FE4CD0F5D}"/>
              </a:ext>
            </a:extLst>
          </p:cNvPr>
          <p:cNvSpPr/>
          <p:nvPr/>
        </p:nvSpPr>
        <p:spPr>
          <a:xfrm>
            <a:off x="5300690" y="4599077"/>
            <a:ext cx="1641073" cy="43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13"/>
              </a:lnSpc>
              <a:buNone/>
            </a:pPr>
            <a:r>
              <a:rPr lang="es-CL" sz="1050" i="1" noProof="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rezagos de forma eficiente</a:t>
            </a:r>
            <a:endParaRPr lang="es-CL" sz="1050" noProof="0" dirty="0"/>
          </a:p>
        </p:txBody>
      </p:sp>
      <p:sp>
        <p:nvSpPr>
          <p:cNvPr id="209" name="Shape 8">
            <a:extLst>
              <a:ext uri="{FF2B5EF4-FFF2-40B4-BE49-F238E27FC236}">
                <a16:creationId xmlns:a16="http://schemas.microsoft.com/office/drawing/2014/main" id="{20EA083D-1445-6776-33A7-B0529A04C568}"/>
              </a:ext>
            </a:extLst>
          </p:cNvPr>
          <p:cNvSpPr/>
          <p:nvPr/>
        </p:nvSpPr>
        <p:spPr>
          <a:xfrm>
            <a:off x="7295225" y="3224182"/>
            <a:ext cx="1994535" cy="172649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sp>
        <p:nvSpPr>
          <p:cNvPr id="211" name="Shape 9">
            <a:extLst>
              <a:ext uri="{FF2B5EF4-FFF2-40B4-BE49-F238E27FC236}">
                <a16:creationId xmlns:a16="http://schemas.microsoft.com/office/drawing/2014/main" id="{EDE1E7B6-CEC7-F4A2-73B6-BF7D01702CB4}"/>
              </a:ext>
            </a:extLst>
          </p:cNvPr>
          <p:cNvSpPr/>
          <p:nvPr/>
        </p:nvSpPr>
        <p:spPr>
          <a:xfrm>
            <a:off x="7453340" y="3361744"/>
            <a:ext cx="429204" cy="611465"/>
          </a:xfrm>
          <a:prstGeom prst="ellipse">
            <a:avLst/>
          </a:prstGeom>
          <a:solidFill>
            <a:srgbClr val="D98D31">
              <a:alpha val="15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3" name="Image 1" descr="icon_yncrv40jaje.svg">
            <a:extLst>
              <a:ext uri="{FF2B5EF4-FFF2-40B4-BE49-F238E27FC236}">
                <a16:creationId xmlns:a16="http://schemas.microsoft.com/office/drawing/2014/main" id="{DB74DF29-94C4-5EC6-34BE-2F46D5DC7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8788" y="3511175"/>
            <a:ext cx="374170" cy="359685"/>
          </a:xfrm>
          <a:prstGeom prst="rect">
            <a:avLst/>
          </a:prstGeom>
        </p:spPr>
      </p:pic>
      <p:sp>
        <p:nvSpPr>
          <p:cNvPr id="215" name="Text 10">
            <a:extLst>
              <a:ext uri="{FF2B5EF4-FFF2-40B4-BE49-F238E27FC236}">
                <a16:creationId xmlns:a16="http://schemas.microsoft.com/office/drawing/2014/main" id="{1153BD9F-08BA-CD15-D673-DE5A6C08628B}"/>
              </a:ext>
            </a:extLst>
          </p:cNvPr>
          <p:cNvSpPr/>
          <p:nvPr/>
        </p:nvSpPr>
        <p:spPr>
          <a:xfrm>
            <a:off x="7453340" y="4196799"/>
            <a:ext cx="1641073" cy="287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resuelve</a:t>
            </a:r>
            <a:endParaRPr lang="es-CL" sz="1400" noProof="0" dirty="0"/>
          </a:p>
        </p:txBody>
      </p:sp>
      <p:sp>
        <p:nvSpPr>
          <p:cNvPr id="217" name="Text 11">
            <a:extLst>
              <a:ext uri="{FF2B5EF4-FFF2-40B4-BE49-F238E27FC236}">
                <a16:creationId xmlns:a16="http://schemas.microsoft.com/office/drawing/2014/main" id="{E994ADC9-35D9-1FC6-35BC-D2FF450F4993}"/>
              </a:ext>
            </a:extLst>
          </p:cNvPr>
          <p:cNvSpPr/>
          <p:nvPr/>
        </p:nvSpPr>
        <p:spPr>
          <a:xfrm>
            <a:off x="7453340" y="4604079"/>
            <a:ext cx="1641073" cy="43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13"/>
              </a:lnSpc>
              <a:buNone/>
            </a:pPr>
            <a:r>
              <a:rPr lang="es-CL" sz="10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sala</a:t>
            </a:r>
            <a:endParaRPr lang="es-CL" sz="1050" noProof="0" dirty="0"/>
          </a:p>
        </p:txBody>
      </p:sp>
      <p:sp>
        <p:nvSpPr>
          <p:cNvPr id="219" name="Shape 12">
            <a:extLst>
              <a:ext uri="{FF2B5EF4-FFF2-40B4-BE49-F238E27FC236}">
                <a16:creationId xmlns:a16="http://schemas.microsoft.com/office/drawing/2014/main" id="{A4FC5BBE-BE41-5052-190F-75E78C42E170}"/>
              </a:ext>
            </a:extLst>
          </p:cNvPr>
          <p:cNvSpPr/>
          <p:nvPr/>
        </p:nvSpPr>
        <p:spPr>
          <a:xfrm>
            <a:off x="9433860" y="3221358"/>
            <a:ext cx="1994535" cy="172649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sp>
        <p:nvSpPr>
          <p:cNvPr id="221" name="Shape 13">
            <a:extLst>
              <a:ext uri="{FF2B5EF4-FFF2-40B4-BE49-F238E27FC236}">
                <a16:creationId xmlns:a16="http://schemas.microsoft.com/office/drawing/2014/main" id="{F27D87BE-8A5A-78B0-387E-5AEC5A423943}"/>
              </a:ext>
            </a:extLst>
          </p:cNvPr>
          <p:cNvSpPr/>
          <p:nvPr/>
        </p:nvSpPr>
        <p:spPr>
          <a:xfrm>
            <a:off x="9864118" y="3369806"/>
            <a:ext cx="429204" cy="611465"/>
          </a:xfrm>
          <a:prstGeom prst="ellipse">
            <a:avLst/>
          </a:prstGeom>
          <a:solidFill>
            <a:srgbClr val="5B915C">
              <a:alpha val="15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23" name="Image 2" descr="icon_j7kplrxu8tf.svg">
            <a:extLst>
              <a:ext uri="{FF2B5EF4-FFF2-40B4-BE49-F238E27FC236}">
                <a16:creationId xmlns:a16="http://schemas.microsoft.com/office/drawing/2014/main" id="{CCD265B4-91B8-ADA9-9FA5-A341DA7D3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9566" y="3519237"/>
            <a:ext cx="374170" cy="359685"/>
          </a:xfrm>
          <a:prstGeom prst="rect">
            <a:avLst/>
          </a:prstGeom>
        </p:spPr>
      </p:pic>
      <p:sp>
        <p:nvSpPr>
          <p:cNvPr id="225" name="Text 14">
            <a:extLst>
              <a:ext uri="{FF2B5EF4-FFF2-40B4-BE49-F238E27FC236}">
                <a16:creationId xmlns:a16="http://schemas.microsoft.com/office/drawing/2014/main" id="{943DD5FE-BC8E-36D0-6845-1B34CA408002}"/>
              </a:ext>
            </a:extLst>
          </p:cNvPr>
          <p:cNvSpPr/>
          <p:nvPr/>
        </p:nvSpPr>
        <p:spPr>
          <a:xfrm>
            <a:off x="9864118" y="4204861"/>
            <a:ext cx="1641073" cy="287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beneficiario</a:t>
            </a:r>
            <a:endParaRPr lang="es-CL" sz="1400" noProof="0" dirty="0"/>
          </a:p>
        </p:txBody>
      </p:sp>
      <p:sp>
        <p:nvSpPr>
          <p:cNvPr id="227" name="Text 15">
            <a:extLst>
              <a:ext uri="{FF2B5EF4-FFF2-40B4-BE49-F238E27FC236}">
                <a16:creationId xmlns:a16="http://schemas.microsoft.com/office/drawing/2014/main" id="{E0988253-B825-186B-960D-06A22F19EAF0}"/>
              </a:ext>
            </a:extLst>
          </p:cNvPr>
          <p:cNvSpPr/>
          <p:nvPr/>
        </p:nvSpPr>
        <p:spPr>
          <a:xfrm>
            <a:off x="9864118" y="4574041"/>
            <a:ext cx="1641073" cy="43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13"/>
              </a:lnSpc>
              <a:buNone/>
            </a:pPr>
            <a:r>
              <a:rPr lang="es-CL" sz="10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el desarrollo</a:t>
            </a:r>
            <a:endParaRPr lang="es-CL" sz="1050" noProof="0" dirty="0"/>
          </a:p>
        </p:txBody>
      </p:sp>
      <p:sp>
        <p:nvSpPr>
          <p:cNvPr id="229" name="Shape 16">
            <a:extLst>
              <a:ext uri="{FF2B5EF4-FFF2-40B4-BE49-F238E27FC236}">
                <a16:creationId xmlns:a16="http://schemas.microsoft.com/office/drawing/2014/main" id="{3A40684A-C966-C15C-134F-13A269650909}"/>
              </a:ext>
            </a:extLst>
          </p:cNvPr>
          <p:cNvSpPr/>
          <p:nvPr/>
        </p:nvSpPr>
        <p:spPr>
          <a:xfrm>
            <a:off x="5198784" y="5041807"/>
            <a:ext cx="6125709" cy="1073569"/>
          </a:xfrm>
          <a:prstGeom prst="roundRect">
            <a:avLst>
              <a:gd name="adj" fmla="val 3784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Text 17">
            <a:extLst>
              <a:ext uri="{FF2B5EF4-FFF2-40B4-BE49-F238E27FC236}">
                <a16:creationId xmlns:a16="http://schemas.microsoft.com/office/drawing/2014/main" id="{C408F159-784B-124C-2766-AF58DE3714A5}"/>
              </a:ext>
            </a:extLst>
          </p:cNvPr>
          <p:cNvSpPr/>
          <p:nvPr/>
        </p:nvSpPr>
        <p:spPr>
          <a:xfrm>
            <a:off x="4928624" y="5167436"/>
            <a:ext cx="2377487" cy="98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s-CL" sz="3200" b="1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.000</a:t>
            </a:r>
            <a:endParaRPr kumimoji="0" lang="es-C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3" name="Shape 18">
            <a:extLst>
              <a:ext uri="{FF2B5EF4-FFF2-40B4-BE49-F238E27FC236}">
                <a16:creationId xmlns:a16="http://schemas.microsoft.com/office/drawing/2014/main" id="{CD0517F9-D5AD-8492-DBFF-775AA0D3CFB5}"/>
              </a:ext>
            </a:extLst>
          </p:cNvPr>
          <p:cNvSpPr/>
          <p:nvPr/>
        </p:nvSpPr>
        <p:spPr>
          <a:xfrm>
            <a:off x="7017304" y="5175288"/>
            <a:ext cx="45719" cy="784961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5" name="Text 19">
            <a:extLst>
              <a:ext uri="{FF2B5EF4-FFF2-40B4-BE49-F238E27FC236}">
                <a16:creationId xmlns:a16="http://schemas.microsoft.com/office/drawing/2014/main" id="{F3D6AC12-AA83-F9F0-4CD3-EB235F722161}"/>
              </a:ext>
            </a:extLst>
          </p:cNvPr>
          <p:cNvSpPr/>
          <p:nvPr/>
        </p:nvSpPr>
        <p:spPr>
          <a:xfrm>
            <a:off x="5518276" y="5157587"/>
            <a:ext cx="5691560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Niño/as</a:t>
            </a:r>
            <a:endParaRPr kumimoji="0" lang="es-CL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7" name="Text 20">
            <a:extLst>
              <a:ext uri="{FF2B5EF4-FFF2-40B4-BE49-F238E27FC236}">
                <a16:creationId xmlns:a16="http://schemas.microsoft.com/office/drawing/2014/main" id="{45E705ED-D384-4BC3-25A8-CEFF817AAC55}"/>
              </a:ext>
            </a:extLst>
          </p:cNvPr>
          <p:cNvSpPr/>
          <p:nvPr/>
        </p:nvSpPr>
        <p:spPr>
          <a:xfrm>
            <a:off x="7303939" y="5479287"/>
            <a:ext cx="4133029" cy="614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D6E0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85.000 niño/as en 1.200 jardines a nivel nacional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24">
            <a:extLst>
              <a:ext uri="{FF2B5EF4-FFF2-40B4-BE49-F238E27FC236}">
                <a16:creationId xmlns:a16="http://schemas.microsoft.com/office/drawing/2014/main" id="{078FC0FA-571D-F435-2F96-1D986FC36A47}"/>
              </a:ext>
            </a:extLst>
          </p:cNvPr>
          <p:cNvSpPr/>
          <p:nvPr/>
        </p:nvSpPr>
        <p:spPr>
          <a:xfrm>
            <a:off x="35204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  <p:extLst>
      <p:ext uri="{BB962C8B-B14F-4D97-AF65-F5344CB8AC3E}">
        <p14:creationId xmlns:p14="http://schemas.microsoft.com/office/powerpoint/2010/main" val="196742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3B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 ·  QUE SE RESUELVE Y HASTA DONDE CRECE</a:t>
            </a:r>
            <a:endParaRPr lang="es-C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y escalabilidad</a:t>
            </a:r>
            <a:endParaRPr lang="es-CL" sz="2800" noProof="0" dirty="0">
              <a:solidFill>
                <a:srgbClr val="20416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486400" cy="3357181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600396" y="1783080"/>
            <a:ext cx="5486400" cy="629471"/>
          </a:xfrm>
          <a:prstGeom prst="roundRect">
            <a:avLst>
              <a:gd name="adj" fmla="val 8000"/>
            </a:avLst>
          </a:prstGeom>
          <a:solidFill>
            <a:srgbClr val="D98D31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600396" y="2118798"/>
            <a:ext cx="5486400" cy="2937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9" name="Image 0" descr="icon_nmpf9dgv27h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08974"/>
            <a:ext cx="384048" cy="352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783080"/>
            <a:ext cx="4663440" cy="6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5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resolvemos AHORA</a:t>
            </a:r>
            <a:endParaRPr lang="es-CL" sz="1450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2622375"/>
            <a:ext cx="4846320" cy="235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25"/>
              </a:lnSpc>
              <a:buFont typeface="Arial" panose="020B0604020202020204" pitchFamily="34" charset="0"/>
              <a:buChar char="•"/>
            </a:pPr>
            <a:r>
              <a:rPr lang="es-CL" sz="1200" i="1" noProof="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el rezago de los niño/as en menos tiempo</a:t>
            </a:r>
          </a:p>
          <a:p>
            <a:pPr marL="171450" indent="-171450">
              <a:lnSpc>
                <a:spcPts val="1625"/>
              </a:lnSpc>
              <a:buFont typeface="Arial" panose="020B0604020202020204" pitchFamily="34" charset="0"/>
              <a:buChar char="•"/>
            </a:pP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tías estarán más tiempo en sala</a:t>
            </a:r>
          </a:p>
          <a:p>
            <a:pPr marL="171450" indent="-171450">
              <a:lnSpc>
                <a:spcPts val="1625"/>
              </a:lnSpc>
              <a:buFont typeface="Arial" panose="020B0604020202020204" pitchFamily="34" charset="0"/>
              <a:buChar char="•"/>
            </a:pP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Potenciar de mejor forma a cada niño/a</a:t>
            </a:r>
            <a:endParaRPr lang="es-CL" sz="1200" noProof="0" dirty="0"/>
          </a:p>
        </p:txBody>
      </p:sp>
      <p:sp>
        <p:nvSpPr>
          <p:cNvPr id="12" name="Shape 9"/>
          <p:cNvSpPr/>
          <p:nvPr/>
        </p:nvSpPr>
        <p:spPr>
          <a:xfrm>
            <a:off x="6153912" y="1762097"/>
            <a:ext cx="5486400" cy="3357181"/>
          </a:xfrm>
          <a:prstGeom prst="roundRect">
            <a:avLst>
              <a:gd name="adj" fmla="val 1500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0"/>
          <p:cNvSpPr/>
          <p:nvPr/>
        </p:nvSpPr>
        <p:spPr>
          <a:xfrm>
            <a:off x="6146322" y="1757202"/>
            <a:ext cx="5486400" cy="629471"/>
          </a:xfrm>
          <a:prstGeom prst="roundRect">
            <a:avLst>
              <a:gd name="adj" fmla="val 8000"/>
            </a:avLst>
          </a:prstGeom>
          <a:solidFill>
            <a:srgbClr val="3B7F8D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1"/>
          <p:cNvSpPr/>
          <p:nvPr/>
        </p:nvSpPr>
        <p:spPr>
          <a:xfrm>
            <a:off x="6146322" y="2118798"/>
            <a:ext cx="5486400" cy="293753"/>
          </a:xfrm>
          <a:prstGeom prst="rect">
            <a:avLst/>
          </a:prstGeom>
          <a:solidFill>
            <a:srgbClr val="3B7F8D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5" name="Image 1" descr="icon_p66ak8ret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908974"/>
            <a:ext cx="384048" cy="3525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1783080"/>
            <a:ext cx="4663440" cy="6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donde PUEDE llegar</a:t>
            </a:r>
            <a:endParaRPr lang="es-CL" sz="1450" noProof="0" dirty="0"/>
          </a:p>
        </p:txBody>
      </p:sp>
      <p:pic>
        <p:nvPicPr>
          <p:cNvPr id="17" name="Image 2" descr="icon_dffe8dnollk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2706304"/>
            <a:ext cx="274320" cy="2517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2664340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s-CL" sz="1150" noProof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replicable en cualquier institución de educción </a:t>
            </a:r>
            <a:r>
              <a:rPr lang="es-CL" sz="1150" noProof="0" dirty="0" err="1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parvularia</a:t>
            </a:r>
            <a:r>
              <a:rPr lang="es-CL" sz="1150" noProof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Chile y en el primero ciclo de la educación escolar.</a:t>
            </a:r>
            <a:endParaRPr lang="es-CL" sz="1150" noProof="0" dirty="0"/>
          </a:p>
        </p:txBody>
      </p:sp>
      <p:pic>
        <p:nvPicPr>
          <p:cNvPr id="19" name="Image 3" descr="icon_tt5ua2yny8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3503635"/>
            <a:ext cx="274320" cy="2517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3461670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s-CL" sz="1150" noProof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escalable a instituciones de educación </a:t>
            </a:r>
            <a:r>
              <a:rPr lang="es-CL" sz="1150" noProof="0" dirty="0" err="1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parvularia</a:t>
            </a:r>
            <a:r>
              <a:rPr lang="es-CL" sz="1150" noProof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Latinoamérica o en países en vías de desarrollo.</a:t>
            </a:r>
            <a:endParaRPr lang="es-CL" sz="1150" noProof="0" dirty="0"/>
          </a:p>
        </p:txBody>
      </p:sp>
      <p:pic>
        <p:nvPicPr>
          <p:cNvPr id="21" name="Image 4" descr="icon_hnsuyu1mjq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4300965"/>
            <a:ext cx="274320" cy="2517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00" y="4259001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s-CL" sz="1150" noProof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efecto multiplicador es que cambia el futuro de nuestros niño/as entregándoles el máximo potencial de su desarrollo, significa cambiar una generación completa y en </a:t>
            </a:r>
            <a:r>
              <a:rPr lang="es-CL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largo plazo cambiar una </a:t>
            </a:r>
            <a:r>
              <a:rPr lang="es-CL" sz="1150" noProof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sociedad. </a:t>
            </a:r>
            <a:endParaRPr lang="es-CL" sz="11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F83636A-0EF0-CE26-BE54-AD47AC981CF5}"/>
              </a:ext>
            </a:extLst>
          </p:cNvPr>
          <p:cNvSpPr/>
          <p:nvPr/>
        </p:nvSpPr>
        <p:spPr>
          <a:xfrm>
            <a:off x="35204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FFF0-9D02-7C63-41DD-B25312BE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1FF23C9-072D-969C-615F-FD7269DA6DC2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3  ·  COMO LO MEDIMOS</a:t>
            </a:r>
            <a:endParaRPr lang="es-CL" sz="1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A1D4C0-C15A-1542-4329-3B7ECB48384A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 err="1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r>
              <a:rPr lang="es-CL" sz="28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métricas de éxito</a:t>
            </a:r>
            <a:endParaRPr lang="es-CL" sz="2800" noProof="0" dirty="0">
              <a:solidFill>
                <a:srgbClr val="20416F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2064CA-DCF2-ADB4-9CCB-EDB84E1FDF90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F97917E-EF38-9CF0-DF4B-63248EC18B8F}"/>
              </a:ext>
            </a:extLst>
          </p:cNvPr>
          <p:cNvSpPr/>
          <p:nvPr/>
        </p:nvSpPr>
        <p:spPr>
          <a:xfrm>
            <a:off x="548640" y="178308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endParaRPr lang="es-CL" noProof="0" dirty="0"/>
          </a:p>
        </p:txBody>
      </p:sp>
      <p:pic>
        <p:nvPicPr>
          <p:cNvPr id="7" name="Image 0" descr="icon_4mu6okoqw6y.svg">
            <a:extLst>
              <a:ext uri="{FF2B5EF4-FFF2-40B4-BE49-F238E27FC236}">
                <a16:creationId xmlns:a16="http://schemas.microsoft.com/office/drawing/2014/main" id="{E2A9DE87-5821-C58B-B6A3-478D3B57E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2130552"/>
            <a:ext cx="548640" cy="54864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DA28A840-57AD-59CE-B84A-F53CF0E1B30E}"/>
              </a:ext>
            </a:extLst>
          </p:cNvPr>
          <p:cNvSpPr/>
          <p:nvPr/>
        </p:nvSpPr>
        <p:spPr>
          <a:xfrm>
            <a:off x="1508760" y="192023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ESTRELLA</a:t>
            </a:r>
            <a:endParaRPr lang="es-CL" sz="12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FEC34AB-9388-C030-31EB-6703AB2EB902}"/>
              </a:ext>
            </a:extLst>
          </p:cNvPr>
          <p:cNvSpPr/>
          <p:nvPr/>
        </p:nvSpPr>
        <p:spPr>
          <a:xfrm>
            <a:off x="1508760" y="22585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s-CL" sz="135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"reducir el tiempo de documentación de las tías, desde 4 horas promedio a la semana, a 0 horas"</a:t>
            </a:r>
            <a:endParaRPr lang="es-CL" sz="135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4FAE63B-C697-A661-134A-400ABE2EF4D5}"/>
              </a:ext>
            </a:extLst>
          </p:cNvPr>
          <p:cNvSpPr/>
          <p:nvPr/>
        </p:nvSpPr>
        <p:spPr>
          <a:xfrm>
            <a:off x="8778240" y="1874519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000" b="1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horas</a:t>
            </a:r>
            <a:endParaRPr lang="es-CL" sz="3000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AD806D1-62E4-64AD-C4C9-A9A090511997}"/>
              </a:ext>
            </a:extLst>
          </p:cNvPr>
          <p:cNvSpPr/>
          <p:nvPr/>
        </p:nvSpPr>
        <p:spPr>
          <a:xfrm>
            <a:off x="4206240" y="3361025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 1" descr="icon_lj9flz5am2d.svg">
            <a:extLst>
              <a:ext uri="{FF2B5EF4-FFF2-40B4-BE49-F238E27FC236}">
                <a16:creationId xmlns:a16="http://schemas.microsoft.com/office/drawing/2014/main" id="{D0FFD451-D7B5-C788-73FA-B3A032E70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7240" y="3635344"/>
            <a:ext cx="457200" cy="45720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49514712-4BE5-3DDB-194C-B32B47E18CDB}"/>
              </a:ext>
            </a:extLst>
          </p:cNvPr>
          <p:cNvSpPr/>
          <p:nvPr/>
        </p:nvSpPr>
        <p:spPr>
          <a:xfrm>
            <a:off x="5181600" y="36353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</a:t>
            </a:r>
            <a:endParaRPr lang="es-CL" sz="1500" noProof="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1CB5725-0DEB-4417-A008-CA4B6425A732}"/>
              </a:ext>
            </a:extLst>
          </p:cNvPr>
          <p:cNvSpPr/>
          <p:nvPr/>
        </p:nvSpPr>
        <p:spPr>
          <a:xfrm>
            <a:off x="4587240" y="4183985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escritorio ahorradas semanalmente</a:t>
            </a:r>
            <a:endParaRPr lang="es-CL" sz="1000" noProof="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F81C5116-FA95-5370-88B6-FAC54232B480}"/>
              </a:ext>
            </a:extLst>
          </p:cNvPr>
          <p:cNvSpPr/>
          <p:nvPr/>
        </p:nvSpPr>
        <p:spPr>
          <a:xfrm>
            <a:off x="4587240" y="4595464"/>
            <a:ext cx="2971800" cy="10973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0E21DDA-22E4-7EE5-D643-1A8720BEDBA3}"/>
              </a:ext>
            </a:extLst>
          </p:cNvPr>
          <p:cNvSpPr/>
          <p:nvPr/>
        </p:nvSpPr>
        <p:spPr>
          <a:xfrm>
            <a:off x="4587240" y="4732625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
</a:t>
            </a:r>
            <a:r>
              <a:rPr lang="es-CL" sz="16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s-CL" sz="900" noProof="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BE8C0C3-3FF0-48A5-75DB-06B2B3DE79B6}"/>
              </a:ext>
            </a:extLst>
          </p:cNvPr>
          <p:cNvSpPr/>
          <p:nvPr/>
        </p:nvSpPr>
        <p:spPr>
          <a:xfrm>
            <a:off x="6073140" y="4732625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
</a:t>
            </a:r>
            <a:r>
              <a:rPr lang="es-CL" sz="1600" b="1" noProof="0" dirty="0">
                <a:solidFill>
                  <a:srgbClr val="5B9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horas</a:t>
            </a:r>
            <a:endParaRPr lang="es-CL" sz="900" noProof="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F11F899E-2DAE-2936-50D5-0368398D55F1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  <p:extLst>
      <p:ext uri="{BB962C8B-B14F-4D97-AF65-F5344CB8AC3E}">
        <p14:creationId xmlns:p14="http://schemas.microsoft.com/office/powerpoint/2010/main" val="256663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grApp - Apps en Google Play">
            <a:extLst>
              <a:ext uri="{FF2B5EF4-FFF2-40B4-BE49-F238E27FC236}">
                <a16:creationId xmlns:a16="http://schemas.microsoft.com/office/drawing/2014/main" id="{8FFB4699-C9FD-6815-C5AE-C1269939C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894" y="4357741"/>
            <a:ext cx="925830" cy="92583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SUMATE A RESOLVER ESTO</a:t>
            </a:r>
            <a:endParaRPr lang="es-CL" sz="1400" noProof="0" dirty="0">
              <a:solidFill>
                <a:srgbClr val="D98D3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" y="1783080"/>
            <a:ext cx="890538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Ayúdanos a construir el futuro de nuestros niños/as</a:t>
            </a:r>
            <a:endParaRPr lang="es-CL" sz="4000" noProof="0" dirty="0">
              <a:solidFill>
                <a:srgbClr val="204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es-CL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invitamos a desarrollar una herramienta para que</a:t>
            </a:r>
            <a:r>
              <a:rPr lang="es-CL" sz="150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“nuestras tías del jardín” estén </a:t>
            </a:r>
            <a:r>
              <a:rPr lang="es-CL" sz="1500" b="1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</a:t>
            </a:r>
            <a:r>
              <a:rPr lang="es-CL" sz="150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la sala fortaleciendo</a:t>
            </a:r>
            <a:r>
              <a:rPr lang="es-CL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desarrollo de los niño/as</a:t>
            </a:r>
            <a:r>
              <a:rPr lang="es-CL" sz="150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CL" sz="1500" b="1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s-CL" sz="150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tiempo en el escritorio documentando y evaluando datos.</a:t>
            </a:r>
            <a:endParaRPr lang="es-CL" sz="1500" noProof="0" dirty="0">
              <a:solidFill>
                <a:srgbClr val="595959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0" descr="icon_fqbyhhyyh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4526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2062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s-CL" sz="1100" b="1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del referente
</a:t>
            </a:r>
            <a:r>
              <a:rPr lang="es-CL" sz="13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Lissette Saavedra · </a:t>
            </a:r>
            <a:r>
              <a:rPr lang="es-CL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Ejecutiva </a:t>
            </a:r>
            <a:r>
              <a:rPr lang="es-CL" sz="1300" b="1" noProof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s-CL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lsaavedrag@integra.cl</a:t>
            </a:r>
            <a:r>
              <a:rPr lang="es-CL" sz="11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+56 9 95984508</a:t>
            </a:r>
            <a:endParaRPr lang="es-CL" sz="1100" noProof="0" dirty="0"/>
          </a:p>
        </p:txBody>
      </p:sp>
      <p:pic>
        <p:nvPicPr>
          <p:cNvPr id="10" name="Image 1" descr="artifacts/aws_logo_whit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9480" y="4480560"/>
            <a:ext cx="1143000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Universidad de Chile  +  Fundación INTEGRA</a:t>
            </a:r>
            <a:endParaRPr lang="es-CL" sz="1200" noProof="0" dirty="0">
              <a:solidFill>
                <a:srgbClr val="20416F"/>
              </a:solidFill>
            </a:endParaRPr>
          </a:p>
        </p:txBody>
      </p:sp>
      <p:sp>
        <p:nvSpPr>
          <p:cNvPr id="3" name="Text 24">
            <a:extLst>
              <a:ext uri="{FF2B5EF4-FFF2-40B4-BE49-F238E27FC236}">
                <a16:creationId xmlns:a16="http://schemas.microsoft.com/office/drawing/2014/main" id="{0EBD3053-5BEB-93B0-DAE0-4B8564B68AF7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E4659-1E95-DC4D-0752-7B56DB7E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FAAEA9FB-800F-0AB1-A19D-C196E9D9896E}"/>
              </a:ext>
            </a:extLst>
          </p:cNvPr>
          <p:cNvSpPr/>
          <p:nvPr/>
        </p:nvSpPr>
        <p:spPr>
          <a:xfrm>
            <a:off x="1783080" y="5669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0" cap="none" spc="20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 BARRIERS  ·  CHILE 2026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BDC6F44-B13A-9B6C-9C1F-67017C2FC635}"/>
              </a:ext>
            </a:extLst>
          </p:cNvPr>
          <p:cNvSpPr/>
          <p:nvPr/>
        </p:nvSpPr>
        <p:spPr>
          <a:xfrm>
            <a:off x="5417007" y="3464527"/>
            <a:ext cx="41169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27.000 voces </a:t>
            </a:r>
            <a:r>
              <a:rPr kumimoji="0" lang="es-CL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libri" pitchFamily="34" charset="-122"/>
                <a:cs typeface="Calibri Light" panose="020F0302020204030204" pitchFamily="34" charset="0"/>
              </a:rPr>
              <a:t>para activar soluciones hoy</a:t>
            </a:r>
            <a:endParaRPr kumimoji="0" lang="es-CL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1CC6B78-E1FC-B108-9E6D-3BBBDF0D95E3}"/>
              </a:ext>
            </a:extLst>
          </p:cNvPr>
          <p:cNvSpPr/>
          <p:nvPr/>
        </p:nvSpPr>
        <p:spPr>
          <a:xfrm>
            <a:off x="5395231" y="2549432"/>
            <a:ext cx="470263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6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IA para la Escucha Organizacional</a:t>
            </a:r>
            <a:endParaRPr kumimoji="0" lang="es-CL" sz="3600" b="1" i="1" u="none" strike="noStrike" kern="1200" cap="none" spc="-4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9" name="Picture 18" descr="The National Intelligence Center of Spain and AWS collaborate to promote public sector cybersecurity | AWS Security Blog">
            <a:extLst>
              <a:ext uri="{FF2B5EF4-FFF2-40B4-BE49-F238E27FC236}">
                <a16:creationId xmlns:a16="http://schemas.microsoft.com/office/drawing/2014/main" id="{C30F5E0E-79E2-5AEC-D0E9-9170C4BC4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1480"/>
            <a:ext cx="1097280" cy="731520"/>
          </a:xfrm>
          <a:prstGeom prst="roundRect">
            <a:avLst/>
          </a:prstGeom>
        </p:spPr>
      </p:pic>
      <p:sp>
        <p:nvSpPr>
          <p:cNvPr id="26" name="Shape 3">
            <a:extLst>
              <a:ext uri="{FF2B5EF4-FFF2-40B4-BE49-F238E27FC236}">
                <a16:creationId xmlns:a16="http://schemas.microsoft.com/office/drawing/2014/main" id="{458492D7-5699-EC60-36B7-F2A934BC59F1}"/>
              </a:ext>
            </a:extLst>
          </p:cNvPr>
          <p:cNvSpPr/>
          <p:nvPr/>
        </p:nvSpPr>
        <p:spPr>
          <a:xfrm>
            <a:off x="4870571" y="2608345"/>
            <a:ext cx="320722" cy="318878"/>
          </a:xfrm>
          <a:prstGeom prst="ellipse">
            <a:avLst/>
          </a:prstGeom>
          <a:solidFill>
            <a:srgbClr val="F79646">
              <a:lumMod val="75000"/>
            </a:srgbClr>
          </a:solidFill>
          <a:ln/>
        </p:spPr>
        <p:txBody>
          <a:bodyPr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3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228625C-E0CA-6B7F-333E-B0763B4E5E76}"/>
              </a:ext>
            </a:extLst>
          </p:cNvPr>
          <p:cNvSpPr/>
          <p:nvPr/>
        </p:nvSpPr>
        <p:spPr>
          <a:xfrm>
            <a:off x="4870571" y="2608345"/>
            <a:ext cx="320722" cy="31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s-CL" sz="13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996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7977-74BE-B80E-47D2-5F93CE2A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0F10AF3-7AE7-28E3-7CFA-B15BDA9EDC12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34E0CD-043D-E6B2-2FC2-26CB023E2D8D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dolor real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8DF5841-F7C9-8D10-A50C-E5B39C08F87B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0B94FD0-0A45-2C96-A1C0-05898360E755}"/>
              </a:ext>
            </a:extLst>
          </p:cNvPr>
          <p:cNvSpPr/>
          <p:nvPr/>
        </p:nvSpPr>
        <p:spPr>
          <a:xfrm>
            <a:off x="548640" y="1783080"/>
            <a:ext cx="6583680" cy="4087368"/>
          </a:xfrm>
          <a:prstGeom prst="roundRect">
            <a:avLst>
              <a:gd name="adj" fmla="val 1489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 0" descr="icon_chwp98x4itd.svg">
            <a:extLst>
              <a:ext uri="{FF2B5EF4-FFF2-40B4-BE49-F238E27FC236}">
                <a16:creationId xmlns:a16="http://schemas.microsoft.com/office/drawing/2014/main" id="{87CE229A-7593-7284-1CBA-19B04C4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2043975"/>
            <a:ext cx="502920" cy="47830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69E1641-0B3D-7A41-39EF-A0D91B979C01}"/>
              </a:ext>
            </a:extLst>
          </p:cNvPr>
          <p:cNvSpPr/>
          <p:nvPr/>
        </p:nvSpPr>
        <p:spPr>
          <a:xfrm>
            <a:off x="1508760" y="2061368"/>
            <a:ext cx="5303520" cy="43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una persona</a:t>
            </a: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FDC8677-2606-8848-9A43-36FAEBADB2AC}"/>
              </a:ext>
            </a:extLst>
          </p:cNvPr>
          <p:cNvSpPr/>
          <p:nvPr/>
        </p:nvSpPr>
        <p:spPr>
          <a:xfrm>
            <a:off x="868680" y="2609250"/>
            <a:ext cx="5943600" cy="173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1" u="none" strike="noStrike" kern="1200" cap="none" spc="0" normalizeH="0" baseline="0" noProof="0" dirty="0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“tía Mercedes” del jardín Caracolito de Chillán tiene problemas con los materiales que llegan a su jardín, y le es muy difícil encontrar un canal donde pueda solicitar apoyo para resolver su problema.</a:t>
            </a:r>
          </a:p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 sz="1400" i="1" dirty="0">
              <a:solidFill>
                <a:srgbClr val="DCE4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1" u="none" strike="noStrike" kern="1200" cap="none" spc="0" normalizeH="0" baseline="0" noProof="0" dirty="0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Conocer cuales son las necesidades reales de las +27 mil “tía Mercedes”  de los +1.200 jardines infantiles y salas cuna, es un gran desafío institucional. </a:t>
            </a:r>
            <a:r>
              <a:rPr lang="es-CL" sz="1400" i="1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saberlo, ya es un gran avance, pero poder saberlo en tiempo real, para llegar con soluciones oportunas es impagable. </a:t>
            </a:r>
            <a:endParaRPr kumimoji="0" lang="es-CL" sz="1400" b="0" i="1" u="none" strike="noStrike" kern="1200" cap="none" spc="0" normalizeH="0" baseline="0" noProof="0" dirty="0">
              <a:ln>
                <a:noFill/>
              </a:ln>
              <a:solidFill>
                <a:srgbClr val="DCE4E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2BFFF71-62B3-D967-54BE-B9ECBD25F393}"/>
              </a:ext>
            </a:extLst>
          </p:cNvPr>
          <p:cNvSpPr/>
          <p:nvPr/>
        </p:nvSpPr>
        <p:spPr>
          <a:xfrm>
            <a:off x="868680" y="4479003"/>
            <a:ext cx="5943600" cy="1828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7EE1C5-27A2-FB59-E264-8DD067994D4B}"/>
              </a:ext>
            </a:extLst>
          </p:cNvPr>
          <p:cNvSpPr/>
          <p:nvPr/>
        </p:nvSpPr>
        <p:spPr>
          <a:xfrm>
            <a:off x="868680" y="4565968"/>
            <a:ext cx="5943600" cy="34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fondo</a:t>
            </a:r>
            <a:endParaRPr kumimoji="0" lang="es-CL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3ADC1E7-4817-ED22-BDF7-397F36091E21}"/>
              </a:ext>
            </a:extLst>
          </p:cNvPr>
          <p:cNvSpPr/>
          <p:nvPr/>
        </p:nvSpPr>
        <p:spPr>
          <a:xfrm>
            <a:off x="868680" y="4913829"/>
            <a:ext cx="5943600" cy="869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1" u="none" strike="noStrike" kern="1200" cap="none" spc="0" normalizeH="0" baseline="0" noProof="0" dirty="0">
                <a:ln>
                  <a:noFill/>
                </a:ln>
                <a:solidFill>
                  <a:srgbClr val="D6E0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Dada la magnitud y la dispersión geográfica de la institución, poder entender los reales problemas de los trabajadores en tiempo real es un desafío muy complejo, más aún entregar soluciones.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F990A94-86D3-FB17-5DA7-4E276F857736}"/>
              </a:ext>
            </a:extLst>
          </p:cNvPr>
          <p:cNvSpPr/>
          <p:nvPr/>
        </p:nvSpPr>
        <p:spPr>
          <a:xfrm>
            <a:off x="7406640" y="1826562"/>
            <a:ext cx="4206240" cy="34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Dimensiona el problema</a:t>
            </a:r>
            <a:endParaRPr kumimoji="0" lang="es-CL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61F7132-2B0F-4AC0-A0EA-A8E80DBECDD3}"/>
              </a:ext>
            </a:extLst>
          </p:cNvPr>
          <p:cNvSpPr/>
          <p:nvPr/>
        </p:nvSpPr>
        <p:spPr>
          <a:xfrm>
            <a:off x="7406640" y="2261389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" name="Image 1" descr="icon_o8irsi1p1c.svg">
            <a:extLst>
              <a:ext uri="{FF2B5EF4-FFF2-40B4-BE49-F238E27FC236}">
                <a16:creationId xmlns:a16="http://schemas.microsoft.com/office/drawing/2014/main" id="{1C1BD8B5-1526-7727-D9D6-86109B5F63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1232" y="2487498"/>
            <a:ext cx="310896" cy="295681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7E1F2113-A569-134A-3B69-45780438BCDD}"/>
              </a:ext>
            </a:extLst>
          </p:cNvPr>
          <p:cNvSpPr/>
          <p:nvPr/>
        </p:nvSpPr>
        <p:spPr>
          <a:xfrm>
            <a:off x="8001000" y="2261389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#1 — No tenemos información sistematizada de </a:t>
            </a:r>
            <a:r>
              <a:rPr lang="es-CL" sz="110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de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problemas que aquejan a nuestras trabajadoras.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B054344-813E-6977-B233-811DA6CF5B0D}"/>
              </a:ext>
            </a:extLst>
          </p:cNvPr>
          <p:cNvSpPr/>
          <p:nvPr/>
        </p:nvSpPr>
        <p:spPr>
          <a:xfrm>
            <a:off x="7406640" y="3131041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Image 2" descr="icon_ajam5hxbdfg.svg">
            <a:extLst>
              <a:ext uri="{FF2B5EF4-FFF2-40B4-BE49-F238E27FC236}">
                <a16:creationId xmlns:a16="http://schemas.microsoft.com/office/drawing/2014/main" id="{E4685616-3B84-830D-7956-715BC4838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1232" y="3357151"/>
            <a:ext cx="310896" cy="295681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4DDC0F9D-BA70-5DB7-D200-C995BB94EA63}"/>
              </a:ext>
            </a:extLst>
          </p:cNvPr>
          <p:cNvSpPr/>
          <p:nvPr/>
        </p:nvSpPr>
        <p:spPr>
          <a:xfrm>
            <a:off x="8001000" y="3131041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#2 — No tenemos un canal inmediato, formal, para escucharlas. 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E59D19AE-C87F-AB9C-CF1E-E1D8CEDC9F6F}"/>
              </a:ext>
            </a:extLst>
          </p:cNvPr>
          <p:cNvSpPr/>
          <p:nvPr/>
        </p:nvSpPr>
        <p:spPr>
          <a:xfrm>
            <a:off x="7406640" y="4000694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 3" descr="icon_nui2dk8zgi.svg">
            <a:extLst>
              <a:ext uri="{FF2B5EF4-FFF2-40B4-BE49-F238E27FC236}">
                <a16:creationId xmlns:a16="http://schemas.microsoft.com/office/drawing/2014/main" id="{E8331B95-3F8E-9558-AFED-87CA5C715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1232" y="4226804"/>
            <a:ext cx="310896" cy="295681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1F03C748-1242-2B4D-8842-F72D1D6F092F}"/>
              </a:ext>
            </a:extLst>
          </p:cNvPr>
          <p:cNvSpPr/>
          <p:nvPr/>
        </p:nvSpPr>
        <p:spPr>
          <a:xfrm>
            <a:off x="8001000" y="4000694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#3 — Cuando nos llega información, no tenemos como identificar la magnitud del problema, categorizarlo, o saber si este se está replicando en otros lados.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9C529F72-AE39-B851-B662-2254944D64D5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3D30851F-E09A-B2B6-3C9F-2E993A9A80D3}"/>
              </a:ext>
            </a:extLst>
          </p:cNvPr>
          <p:cNvSpPr/>
          <p:nvPr/>
        </p:nvSpPr>
        <p:spPr>
          <a:xfrm>
            <a:off x="7406640" y="4913828"/>
            <a:ext cx="4251960" cy="1532691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C0463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EEC1F72E-7A97-5871-CB1B-E5986A5B67D8}"/>
              </a:ext>
            </a:extLst>
          </p:cNvPr>
          <p:cNvSpPr/>
          <p:nvPr/>
        </p:nvSpPr>
        <p:spPr>
          <a:xfrm>
            <a:off x="7589520" y="4913828"/>
            <a:ext cx="3931920" cy="153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s-CL" sz="1200" b="1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r>
              <a:rPr lang="es-CL" sz="1200" b="1" noProof="0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s-ES" sz="120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s-ES" sz="1200" noProof="0" dirty="0" err="1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r>
              <a:rPr lang="es-ES" sz="1200" noProof="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herramienta tecnológica que nos permita saber en tiempo real las necesidades diarias de las tías (no denuncias), clasificarlas según tipo de necesidad, frecuencia y relevancia, para así ofrecer soluciones oportunas. Es importante que sea accesible en distintas plataformas (como celular o </a:t>
            </a:r>
            <a:r>
              <a:rPr lang="es-ES" sz="1200" noProof="0" dirty="0" err="1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r>
              <a:rPr lang="es-ES" sz="1200" noProof="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 lo largo del diverso territorio nacional.</a:t>
            </a:r>
            <a:endParaRPr lang="es-CL" sz="1200" noProof="0" dirty="0"/>
          </a:p>
        </p:txBody>
      </p:sp>
    </p:spTree>
    <p:extLst>
      <p:ext uri="{BB962C8B-B14F-4D97-AF65-F5344CB8AC3E}">
        <p14:creationId xmlns:p14="http://schemas.microsoft.com/office/powerpoint/2010/main" val="2762422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8CD2-B0D1-E0D3-15DC-884951F6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1F528373-B4AD-1CC2-F0D1-6DBBA7E3CCEB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B8CF5000-BF9A-89E3-5370-57667DF8A7ED}"/>
              </a:ext>
            </a:extLst>
          </p:cNvPr>
          <p:cNvSpPr/>
          <p:nvPr/>
        </p:nvSpPr>
        <p:spPr>
          <a:xfrm>
            <a:off x="244929" y="1702471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3" name="Image 3" descr="icon_7q55bujzf94.svg">
            <a:extLst>
              <a:ext uri="{FF2B5EF4-FFF2-40B4-BE49-F238E27FC236}">
                <a16:creationId xmlns:a16="http://schemas.microsoft.com/office/drawing/2014/main" id="{1EAA7D96-40D7-7138-2D8E-B11C3096D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089" y="1811487"/>
            <a:ext cx="256032" cy="218032"/>
          </a:xfrm>
          <a:prstGeom prst="rect">
            <a:avLst/>
          </a:prstGeom>
        </p:spPr>
      </p:pic>
      <p:sp>
        <p:nvSpPr>
          <p:cNvPr id="66" name="Text 26">
            <a:extLst>
              <a:ext uri="{FF2B5EF4-FFF2-40B4-BE49-F238E27FC236}">
                <a16:creationId xmlns:a16="http://schemas.microsoft.com/office/drawing/2014/main" id="{34981984-50B8-8866-B6D6-67F16CF75221}"/>
              </a:ext>
            </a:extLst>
          </p:cNvPr>
          <p:cNvSpPr/>
          <p:nvPr/>
        </p:nvSpPr>
        <p:spPr>
          <a:xfrm>
            <a:off x="747849" y="1702471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Estamos en deuda con nuestras trabajadoras, necesitamos escucharlas constantemente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2" name="Text 24">
            <a:extLst>
              <a:ext uri="{FF2B5EF4-FFF2-40B4-BE49-F238E27FC236}">
                <a16:creationId xmlns:a16="http://schemas.microsoft.com/office/drawing/2014/main" id="{3739E405-DB63-B71C-385C-7CFA576FFC55}"/>
              </a:ext>
            </a:extLst>
          </p:cNvPr>
          <p:cNvSpPr/>
          <p:nvPr/>
        </p:nvSpPr>
        <p:spPr>
          <a:xfrm>
            <a:off x="3520440" y="6284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FFB2718-F2B7-2FA1-A944-D6848A902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721" y="1685531"/>
            <a:ext cx="5987279" cy="4425109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67E53AB-6734-8B8A-5B4F-C29CDEE8E429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lang="es-CL" sz="1200" noProof="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9B1E4E3-C216-3B35-77A6-00DDADD62D90}"/>
              </a:ext>
            </a:extLst>
          </p:cNvPr>
          <p:cNvSpPr/>
          <p:nvPr/>
        </p:nvSpPr>
        <p:spPr>
          <a:xfrm>
            <a:off x="54864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89865A8B-A939-C8E4-4BDA-44887FFB04D1}"/>
              </a:ext>
            </a:extLst>
          </p:cNvPr>
          <p:cNvSpPr/>
          <p:nvPr/>
        </p:nvSpPr>
        <p:spPr>
          <a:xfrm>
            <a:off x="266710" y="2368031"/>
            <a:ext cx="5912173" cy="45719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0BA9515-FD8A-5FD6-C89C-1AFC22EBE2BB}"/>
              </a:ext>
            </a:extLst>
          </p:cNvPr>
          <p:cNvSpPr/>
          <p:nvPr/>
        </p:nvSpPr>
        <p:spPr>
          <a:xfrm>
            <a:off x="286853" y="2498500"/>
            <a:ext cx="1946090" cy="205444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BB417C5-079C-56CE-5F42-B6662B7DD7CB}"/>
              </a:ext>
            </a:extLst>
          </p:cNvPr>
          <p:cNvSpPr/>
          <p:nvPr/>
        </p:nvSpPr>
        <p:spPr>
          <a:xfrm>
            <a:off x="485629" y="2570317"/>
            <a:ext cx="418779" cy="535460"/>
          </a:xfrm>
          <a:prstGeom prst="ellipse">
            <a:avLst/>
          </a:prstGeom>
          <a:solidFill>
            <a:srgbClr val="3B7F8D">
              <a:alpha val="1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6" name="Image 0" descr="icon_03wu7k3zcjkd.svg">
            <a:extLst>
              <a:ext uri="{FF2B5EF4-FFF2-40B4-BE49-F238E27FC236}">
                <a16:creationId xmlns:a16="http://schemas.microsoft.com/office/drawing/2014/main" id="{D6F3B2E1-F3DF-C402-6DF8-D2554B39F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375" y="2719748"/>
            <a:ext cx="350143" cy="336588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F3698D97-6861-C2F4-2E20-D1D2BB01FBFE}"/>
              </a:ext>
            </a:extLst>
          </p:cNvPr>
          <p:cNvSpPr/>
          <p:nvPr/>
        </p:nvSpPr>
        <p:spPr>
          <a:xfrm>
            <a:off x="383405" y="3241155"/>
            <a:ext cx="1601213" cy="25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Relevante para el sector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6F575DCD-5F76-60D0-EE8D-0930F90B2F8A}"/>
              </a:ext>
            </a:extLst>
          </p:cNvPr>
          <p:cNvSpPr/>
          <p:nvPr/>
        </p:nvSpPr>
        <p:spPr>
          <a:xfrm>
            <a:off x="383405" y="3646102"/>
            <a:ext cx="1601213" cy="37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Porque son el principal activo de nuestra institución, sin ellas no podemos entregar educación y cuidado de calidad a nuestros </a:t>
            </a:r>
            <a:r>
              <a:rPr kumimoji="0" lang="es-CL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niñ</a:t>
            </a: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/as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48EB7C2D-A930-6594-90D8-E8E8B5C8200B}"/>
              </a:ext>
            </a:extLst>
          </p:cNvPr>
          <p:cNvSpPr/>
          <p:nvPr/>
        </p:nvSpPr>
        <p:spPr>
          <a:xfrm>
            <a:off x="2343915" y="2536227"/>
            <a:ext cx="1946090" cy="201672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C7194D7-4CD4-6A3D-0CF1-385302078162}"/>
              </a:ext>
            </a:extLst>
          </p:cNvPr>
          <p:cNvSpPr/>
          <p:nvPr/>
        </p:nvSpPr>
        <p:spPr>
          <a:xfrm>
            <a:off x="2560048" y="2608044"/>
            <a:ext cx="418779" cy="535460"/>
          </a:xfrm>
          <a:prstGeom prst="ellipse">
            <a:avLst/>
          </a:prstGeom>
          <a:solidFill>
            <a:srgbClr val="D98D31">
              <a:alpha val="1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Image 1" descr="icon_yncrv40jaje.svg">
            <a:extLst>
              <a:ext uri="{FF2B5EF4-FFF2-40B4-BE49-F238E27FC236}">
                <a16:creationId xmlns:a16="http://schemas.microsoft.com/office/drawing/2014/main" id="{A5BDB61C-E901-CE01-013B-A374C341B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6794" y="2757475"/>
            <a:ext cx="350143" cy="336588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26A0644E-B863-97AE-E398-87A82E41340F}"/>
              </a:ext>
            </a:extLst>
          </p:cNvPr>
          <p:cNvSpPr/>
          <p:nvPr/>
        </p:nvSpPr>
        <p:spPr>
          <a:xfrm>
            <a:off x="2440467" y="3355083"/>
            <a:ext cx="1601213" cy="25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resuelve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C6822928-36A7-EBE3-460B-B408CB4AEB8C}"/>
              </a:ext>
            </a:extLst>
          </p:cNvPr>
          <p:cNvSpPr/>
          <p:nvPr/>
        </p:nvSpPr>
        <p:spPr>
          <a:xfrm>
            <a:off x="2440467" y="3800463"/>
            <a:ext cx="1601213" cy="37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Resolvemos sus necesidades y las de sus jardines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AEC99175-1F8E-B9A8-BA35-DFC76829C23E}"/>
              </a:ext>
            </a:extLst>
          </p:cNvPr>
          <p:cNvSpPr/>
          <p:nvPr/>
        </p:nvSpPr>
        <p:spPr>
          <a:xfrm>
            <a:off x="4370119" y="2529573"/>
            <a:ext cx="1946090" cy="201672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BC13DECE-0EF9-6DA5-D7CA-4623A410D561}"/>
              </a:ext>
            </a:extLst>
          </p:cNvPr>
          <p:cNvSpPr/>
          <p:nvPr/>
        </p:nvSpPr>
        <p:spPr>
          <a:xfrm>
            <a:off x="4554862" y="2620907"/>
            <a:ext cx="418779" cy="535460"/>
          </a:xfrm>
          <a:prstGeom prst="ellipse">
            <a:avLst/>
          </a:prstGeom>
          <a:solidFill>
            <a:srgbClr val="5B915C">
              <a:alpha val="1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8" name="Image 2" descr="icon_j7kplrxu8tf.svg">
            <a:extLst>
              <a:ext uri="{FF2B5EF4-FFF2-40B4-BE49-F238E27FC236}">
                <a16:creationId xmlns:a16="http://schemas.microsoft.com/office/drawing/2014/main" id="{950B01F7-1AA6-A414-093D-D0D1EB9D4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1608" y="2770338"/>
            <a:ext cx="350143" cy="336588"/>
          </a:xfrm>
          <a:prstGeom prst="rect">
            <a:avLst/>
          </a:prstGeom>
        </p:spPr>
      </p:pic>
      <p:sp>
        <p:nvSpPr>
          <p:cNvPr id="51" name="Text 14">
            <a:extLst>
              <a:ext uri="{FF2B5EF4-FFF2-40B4-BE49-F238E27FC236}">
                <a16:creationId xmlns:a16="http://schemas.microsoft.com/office/drawing/2014/main" id="{6D327976-82CC-72DD-74BD-9102BB8F8A15}"/>
              </a:ext>
            </a:extLst>
          </p:cNvPr>
          <p:cNvSpPr/>
          <p:nvPr/>
        </p:nvSpPr>
        <p:spPr>
          <a:xfrm>
            <a:off x="4466671" y="3334821"/>
            <a:ext cx="1601213" cy="25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beneficiario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1A8F7FB5-68A9-AC14-9C8F-50997690E781}"/>
              </a:ext>
            </a:extLst>
          </p:cNvPr>
          <p:cNvSpPr/>
          <p:nvPr/>
        </p:nvSpPr>
        <p:spPr>
          <a:xfrm>
            <a:off x="4466671" y="3704001"/>
            <a:ext cx="1601213" cy="37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Cuidamos a quienes cuidan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68AE2333-DCF4-92F3-963B-442220D5391F}"/>
              </a:ext>
            </a:extLst>
          </p:cNvPr>
          <p:cNvSpPr/>
          <p:nvPr/>
        </p:nvSpPr>
        <p:spPr>
          <a:xfrm>
            <a:off x="244929" y="4630144"/>
            <a:ext cx="6125709" cy="1262764"/>
          </a:xfrm>
          <a:prstGeom prst="roundRect">
            <a:avLst>
              <a:gd name="adj" fmla="val 3784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DC9590BF-FBB6-6DA8-4BE7-A192EE2F2AFE}"/>
              </a:ext>
            </a:extLst>
          </p:cNvPr>
          <p:cNvSpPr/>
          <p:nvPr/>
        </p:nvSpPr>
        <p:spPr>
          <a:xfrm>
            <a:off x="-131576" y="4824286"/>
            <a:ext cx="2377487" cy="98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+27.500</a:t>
            </a:r>
            <a:endParaRPr kumimoji="0" lang="es-C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7A7D1403-F1B7-52DE-BBDB-37825C97A9FF}"/>
              </a:ext>
            </a:extLst>
          </p:cNvPr>
          <p:cNvSpPr/>
          <p:nvPr/>
        </p:nvSpPr>
        <p:spPr>
          <a:xfrm>
            <a:off x="1834844" y="4937795"/>
            <a:ext cx="45719" cy="784961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53C52751-2533-3A6C-BD9B-07529F554BE0}"/>
              </a:ext>
            </a:extLst>
          </p:cNvPr>
          <p:cNvSpPr/>
          <p:nvPr/>
        </p:nvSpPr>
        <p:spPr>
          <a:xfrm>
            <a:off x="477337" y="4702380"/>
            <a:ext cx="5691560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Trabajadoras</a:t>
            </a:r>
            <a:endParaRPr kumimoji="0" lang="es-CL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EC75A279-DDC6-8777-6150-8E98FCFBF374}"/>
              </a:ext>
            </a:extLst>
          </p:cNvPr>
          <p:cNvSpPr/>
          <p:nvPr/>
        </p:nvSpPr>
        <p:spPr>
          <a:xfrm>
            <a:off x="2121479" y="5056738"/>
            <a:ext cx="4133029" cy="614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D6E0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27.500 trabajadoras que atienden a 85.000 niño/as en 1.200 jardines a nivel nacional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248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7A08-4980-8B36-DC9A-4B290D6F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0703538-9E53-C8DF-D9A4-4DF386A678D4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3B7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 2  ·  QUE SE RESUELVE Y HASTA DONDE CRECE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63321E-E269-9EF5-9E58-96C7504FCA84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Impacto y escalabilidad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7D4E7EB-8D6E-3F28-2448-768029F8D01B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D6DFA4-CD2C-9D2C-6725-E35B45B100B0}"/>
              </a:ext>
            </a:extLst>
          </p:cNvPr>
          <p:cNvSpPr/>
          <p:nvPr/>
        </p:nvSpPr>
        <p:spPr>
          <a:xfrm>
            <a:off x="594360" y="1783080"/>
            <a:ext cx="5486400" cy="3357181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6857787-341A-B272-C47E-0A4694484259}"/>
              </a:ext>
            </a:extLst>
          </p:cNvPr>
          <p:cNvSpPr/>
          <p:nvPr/>
        </p:nvSpPr>
        <p:spPr>
          <a:xfrm>
            <a:off x="600396" y="1783080"/>
            <a:ext cx="5486400" cy="629471"/>
          </a:xfrm>
          <a:prstGeom prst="roundRect">
            <a:avLst>
              <a:gd name="adj" fmla="val 8000"/>
            </a:avLst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E73640-C602-62D3-8B1E-BC2B2119DDFF}"/>
              </a:ext>
            </a:extLst>
          </p:cNvPr>
          <p:cNvSpPr/>
          <p:nvPr/>
        </p:nvSpPr>
        <p:spPr>
          <a:xfrm>
            <a:off x="600396" y="2118798"/>
            <a:ext cx="5486400" cy="2937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Image 0" descr="icon_nmpf9dgv27h.svg">
            <a:extLst>
              <a:ext uri="{FF2B5EF4-FFF2-40B4-BE49-F238E27FC236}">
                <a16:creationId xmlns:a16="http://schemas.microsoft.com/office/drawing/2014/main" id="{BC664071-9C12-DA16-A9F8-0344983D1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08974"/>
            <a:ext cx="384048" cy="35250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F5F5FD25-6DB8-DF8B-E888-C03C00511313}"/>
              </a:ext>
            </a:extLst>
          </p:cNvPr>
          <p:cNvSpPr/>
          <p:nvPr/>
        </p:nvSpPr>
        <p:spPr>
          <a:xfrm>
            <a:off x="1280160" y="1783080"/>
            <a:ext cx="4663440" cy="6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5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 resolvemos AHORA</a:t>
            </a:r>
            <a:endParaRPr kumimoji="0" lang="es-CL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3FFC912-CA4A-DF00-EF71-D97A981FFA5A}"/>
              </a:ext>
            </a:extLst>
          </p:cNvPr>
          <p:cNvSpPr/>
          <p:nvPr/>
        </p:nvSpPr>
        <p:spPr>
          <a:xfrm>
            <a:off x="868680" y="2622375"/>
            <a:ext cx="4846320" cy="235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un canal para escuchar</a:t>
            </a: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las necesidades</a:t>
            </a:r>
          </a:p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magnitud de estas</a:t>
            </a:r>
          </a:p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soluciones</a:t>
            </a:r>
          </a:p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Enforcar recursos para resolver los principales dolores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FFE930B-07A9-6194-E80B-C4177FE70DA9}"/>
              </a:ext>
            </a:extLst>
          </p:cNvPr>
          <p:cNvSpPr/>
          <p:nvPr/>
        </p:nvSpPr>
        <p:spPr>
          <a:xfrm>
            <a:off x="6153912" y="1762097"/>
            <a:ext cx="5486400" cy="3357181"/>
          </a:xfrm>
          <a:prstGeom prst="roundRect">
            <a:avLst>
              <a:gd name="adj" fmla="val 1500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0DA829C-F296-F47F-CEC7-637CFEFC4ED0}"/>
              </a:ext>
            </a:extLst>
          </p:cNvPr>
          <p:cNvSpPr/>
          <p:nvPr/>
        </p:nvSpPr>
        <p:spPr>
          <a:xfrm>
            <a:off x="6146322" y="1757202"/>
            <a:ext cx="5486400" cy="629471"/>
          </a:xfrm>
          <a:prstGeom prst="roundRect">
            <a:avLst>
              <a:gd name="adj" fmla="val 8000"/>
            </a:avLst>
          </a:prstGeom>
          <a:solidFill>
            <a:srgbClr val="3B7F8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3268314-3894-EAC2-9774-8FC007ADE815}"/>
              </a:ext>
            </a:extLst>
          </p:cNvPr>
          <p:cNvSpPr/>
          <p:nvPr/>
        </p:nvSpPr>
        <p:spPr>
          <a:xfrm>
            <a:off x="6146322" y="2118798"/>
            <a:ext cx="5486400" cy="293753"/>
          </a:xfrm>
          <a:prstGeom prst="rect">
            <a:avLst/>
          </a:prstGeom>
          <a:solidFill>
            <a:srgbClr val="3B7F8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" name="Image 1" descr="icon_p66ak8retic.svg">
            <a:extLst>
              <a:ext uri="{FF2B5EF4-FFF2-40B4-BE49-F238E27FC236}">
                <a16:creationId xmlns:a16="http://schemas.microsoft.com/office/drawing/2014/main" id="{5FE3C858-CCD3-03DA-C1DC-B758C1288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908974"/>
            <a:ext cx="384048" cy="352504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5E123F21-9BF6-D3B4-74A5-DC525D562FB1}"/>
              </a:ext>
            </a:extLst>
          </p:cNvPr>
          <p:cNvSpPr/>
          <p:nvPr/>
        </p:nvSpPr>
        <p:spPr>
          <a:xfrm>
            <a:off x="6903720" y="1783080"/>
            <a:ext cx="4663440" cy="6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Hasta donde PUEDE llegar</a:t>
            </a:r>
            <a:endParaRPr kumimoji="0" lang="es-CL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Image 2" descr="icon_dffe8dnollk.svg">
            <a:extLst>
              <a:ext uri="{FF2B5EF4-FFF2-40B4-BE49-F238E27FC236}">
                <a16:creationId xmlns:a16="http://schemas.microsoft.com/office/drawing/2014/main" id="{EE3D722C-E49E-C9BC-6B25-F6605E7D1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2706304"/>
            <a:ext cx="274320" cy="25178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B1E4A06E-7800-2279-DC34-CED30F73EA65}"/>
              </a:ext>
            </a:extLst>
          </p:cNvPr>
          <p:cNvSpPr/>
          <p:nvPr/>
        </p:nvSpPr>
        <p:spPr>
          <a:xfrm>
            <a:off x="6858000" y="2664340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puede replicar en cualquier tipo de institución, en particular en aquellas de grande magnitudes de trabajadores y dispersión geográfica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Image 3" descr="icon_tt5ua2yny8n.svg">
            <a:extLst>
              <a:ext uri="{FF2B5EF4-FFF2-40B4-BE49-F238E27FC236}">
                <a16:creationId xmlns:a16="http://schemas.microsoft.com/office/drawing/2014/main" id="{96E075E4-F3CE-90FE-3641-D50171916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3503635"/>
            <a:ext cx="274320" cy="25178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27557CB6-8002-B3EE-9FCC-7B8644073550}"/>
              </a:ext>
            </a:extLst>
          </p:cNvPr>
          <p:cNvSpPr/>
          <p:nvPr/>
        </p:nvSpPr>
        <p:spPr>
          <a:xfrm>
            <a:off x="6858000" y="3461670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 escalable a cualquier institución que requiera levantar necesidades de algún público objetivo 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 4" descr="icon_hnsuyu1mjqi.svg">
            <a:extLst>
              <a:ext uri="{FF2B5EF4-FFF2-40B4-BE49-F238E27FC236}">
                <a16:creationId xmlns:a16="http://schemas.microsoft.com/office/drawing/2014/main" id="{4D457370-191F-DEC9-E911-97B010699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4300965"/>
            <a:ext cx="274320" cy="251788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E1F45263-8BD4-1817-B095-FE113B2AC0C7}"/>
              </a:ext>
            </a:extLst>
          </p:cNvPr>
          <p:cNvSpPr/>
          <p:nvPr/>
        </p:nvSpPr>
        <p:spPr>
          <a:xfrm>
            <a:off x="6858000" y="4259001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efecto multiplicador es que si un trabajador está feliz, hace su trabajo de mejor forma y por lo tanto el resultado de su trabajo va a ser de alto impacto.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6FDA302-EF8C-24AD-B14B-CCB94E237419}"/>
              </a:ext>
            </a:extLst>
          </p:cNvPr>
          <p:cNvSpPr/>
          <p:nvPr/>
        </p:nvSpPr>
        <p:spPr>
          <a:xfrm>
            <a:off x="35204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  <p:extLst>
      <p:ext uri="{BB962C8B-B14F-4D97-AF65-F5344CB8AC3E}">
        <p14:creationId xmlns:p14="http://schemas.microsoft.com/office/powerpoint/2010/main" val="986768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4A1A-F0A2-491B-5270-B04430E4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5E2CA24-A5B9-6EC2-BDD1-34F531D52BC4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 3  ·  COMO LO MEDIMOS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1E4249-F3DC-F54F-BDEE-5A988F205DC5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 métricas de éxito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2EB2BE-09FF-30A8-7B2E-09798F8EE9DA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CA87F7-2CAB-D77D-1ED3-D267E046BA41}"/>
              </a:ext>
            </a:extLst>
          </p:cNvPr>
          <p:cNvSpPr/>
          <p:nvPr/>
        </p:nvSpPr>
        <p:spPr>
          <a:xfrm>
            <a:off x="548640" y="178308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 0" descr="icon_4mu6okoqw6y.svg">
            <a:extLst>
              <a:ext uri="{FF2B5EF4-FFF2-40B4-BE49-F238E27FC236}">
                <a16:creationId xmlns:a16="http://schemas.microsoft.com/office/drawing/2014/main" id="{663F328E-12EF-6698-4F04-D3B879882C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2130552"/>
            <a:ext cx="548640" cy="54864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6535B5F8-7FF4-083E-2178-A0F1C8620C20}"/>
              </a:ext>
            </a:extLst>
          </p:cNvPr>
          <p:cNvSpPr/>
          <p:nvPr/>
        </p:nvSpPr>
        <p:spPr>
          <a:xfrm>
            <a:off x="1508760" y="192023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1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KPI ESTRELLA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991FECB-6E0F-3BD8-0267-A4EDF938454E}"/>
              </a:ext>
            </a:extLst>
          </p:cNvPr>
          <p:cNvSpPr/>
          <p:nvPr/>
        </p:nvSpPr>
        <p:spPr>
          <a:xfrm>
            <a:off x="1508760" y="22585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3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kumimoji="0" lang="es-CL" sz="135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Identicar</a:t>
            </a:r>
            <a:r>
              <a:rPr kumimoji="0" lang="es-CL" sz="13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las 3 necesidades más importantes de nuestras trabajadoras"</a:t>
            </a:r>
            <a:endParaRPr kumimoji="0" lang="es-CL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1DC6021-DDA6-58E0-FD87-7ADA2C2F49A2}"/>
              </a:ext>
            </a:extLst>
          </p:cNvPr>
          <p:cNvSpPr/>
          <p:nvPr/>
        </p:nvSpPr>
        <p:spPr>
          <a:xfrm>
            <a:off x="8778240" y="1874519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0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necesidades</a:t>
            </a:r>
            <a:endParaRPr kumimoji="0" lang="es-CL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F19A3D36-25F1-9ABC-E0A6-A4438B0152F9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CE2F7A5D-A1E1-3C0E-DCF9-BBF4E166EAA6}"/>
              </a:ext>
            </a:extLst>
          </p:cNvPr>
          <p:cNvSpPr/>
          <p:nvPr/>
        </p:nvSpPr>
        <p:spPr>
          <a:xfrm>
            <a:off x="2247461" y="32461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4" name="Image 1" descr="icon_lj9flz5am2d.svg">
            <a:extLst>
              <a:ext uri="{FF2B5EF4-FFF2-40B4-BE49-F238E27FC236}">
                <a16:creationId xmlns:a16="http://schemas.microsoft.com/office/drawing/2014/main" id="{3320CC23-5D64-21A0-D08D-25BD023E7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8461" y="3520439"/>
            <a:ext cx="457200" cy="457200"/>
          </a:xfrm>
          <a:prstGeom prst="rect">
            <a:avLst/>
          </a:prstGeom>
        </p:spPr>
      </p:pic>
      <p:sp>
        <p:nvSpPr>
          <p:cNvPr id="66" name="Text 9">
            <a:extLst>
              <a:ext uri="{FF2B5EF4-FFF2-40B4-BE49-F238E27FC236}">
                <a16:creationId xmlns:a16="http://schemas.microsoft.com/office/drawing/2014/main" id="{C8A07EB3-6D32-A1BC-AC78-EF7D6AD5D3D7}"/>
              </a:ext>
            </a:extLst>
          </p:cNvPr>
          <p:cNvSpPr/>
          <p:nvPr/>
        </p:nvSpPr>
        <p:spPr>
          <a:xfrm>
            <a:off x="3222821" y="3520439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Métrica #1: </a:t>
            </a:r>
            <a:endParaRPr kumimoji="0" lang="es-CL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8B8D3AB5-8F4C-8046-8A12-931B9AA85C31}"/>
              </a:ext>
            </a:extLst>
          </p:cNvPr>
          <p:cNvSpPr/>
          <p:nvPr/>
        </p:nvSpPr>
        <p:spPr>
          <a:xfrm>
            <a:off x="2628461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3 necesidades más importantes de nuestras trabajadoras</a:t>
            </a: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671DA228-9AD5-0A52-45E3-4BB524DCDD1F}"/>
              </a:ext>
            </a:extLst>
          </p:cNvPr>
          <p:cNvSpPr/>
          <p:nvPr/>
        </p:nvSpPr>
        <p:spPr>
          <a:xfrm>
            <a:off x="2628461" y="4480559"/>
            <a:ext cx="2971800" cy="10973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2" name="Text 12">
            <a:extLst>
              <a:ext uri="{FF2B5EF4-FFF2-40B4-BE49-F238E27FC236}">
                <a16:creationId xmlns:a16="http://schemas.microsoft.com/office/drawing/2014/main" id="{05D81822-6967-FB22-0ADE-3BB27A8F0D08}"/>
              </a:ext>
            </a:extLst>
          </p:cNvPr>
          <p:cNvSpPr/>
          <p:nvPr/>
        </p:nvSpPr>
        <p:spPr>
          <a:xfrm>
            <a:off x="26284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
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identificadas</a:t>
            </a:r>
            <a:endParaRPr kumimoji="0" lang="es-CL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12EC6CEF-C6B1-59DB-D5FB-2E45CECE4B40}"/>
              </a:ext>
            </a:extLst>
          </p:cNvPr>
          <p:cNvSpPr/>
          <p:nvPr/>
        </p:nvSpPr>
        <p:spPr>
          <a:xfrm>
            <a:off x="41143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
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5B91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identificadas</a:t>
            </a:r>
            <a:endParaRPr kumimoji="0" lang="es-CL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3F0AA291-AA2A-01D4-4DA7-3FB008E8368F}"/>
              </a:ext>
            </a:extLst>
          </p:cNvPr>
          <p:cNvSpPr/>
          <p:nvPr/>
        </p:nvSpPr>
        <p:spPr>
          <a:xfrm>
            <a:off x="6194621" y="32461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Image 2" descr="icon_hl0pghp3hnf.svg">
            <a:extLst>
              <a:ext uri="{FF2B5EF4-FFF2-40B4-BE49-F238E27FC236}">
                <a16:creationId xmlns:a16="http://schemas.microsoft.com/office/drawing/2014/main" id="{D1B8DCEE-D8F5-7200-61C0-78FEC0E0C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4661" y="3520439"/>
            <a:ext cx="457200" cy="457200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CA231F14-FA15-301F-B7E2-26B9F43575F3}"/>
              </a:ext>
            </a:extLst>
          </p:cNvPr>
          <p:cNvSpPr/>
          <p:nvPr/>
        </p:nvSpPr>
        <p:spPr>
          <a:xfrm>
            <a:off x="7109021" y="3520439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Métrica #2</a:t>
            </a:r>
            <a:endParaRPr kumimoji="0" lang="es-CL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8ECF84E2-7DF7-DE97-5221-D7CA21EF738B}"/>
              </a:ext>
            </a:extLst>
          </p:cNvPr>
          <p:cNvSpPr/>
          <p:nvPr/>
        </p:nvSpPr>
        <p:spPr>
          <a:xfrm>
            <a:off x="6514661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Resolver las 3 necesidades más importantes de nuestras trabajadoras</a:t>
            </a: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8F09BB06-40CF-5704-BDD9-7F0F9254EBD7}"/>
              </a:ext>
            </a:extLst>
          </p:cNvPr>
          <p:cNvSpPr/>
          <p:nvPr/>
        </p:nvSpPr>
        <p:spPr>
          <a:xfrm>
            <a:off x="6514661" y="4480559"/>
            <a:ext cx="2971800" cy="10973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Text 18">
            <a:extLst>
              <a:ext uri="{FF2B5EF4-FFF2-40B4-BE49-F238E27FC236}">
                <a16:creationId xmlns:a16="http://schemas.microsoft.com/office/drawing/2014/main" id="{87D99282-14CC-F03C-4348-84DAFDBEC923}"/>
              </a:ext>
            </a:extLst>
          </p:cNvPr>
          <p:cNvSpPr/>
          <p:nvPr/>
        </p:nvSpPr>
        <p:spPr>
          <a:xfrm>
            <a:off x="65146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Linea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base
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resueltas</a:t>
            </a:r>
            <a:endParaRPr kumimoji="0" lang="es-CL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1B8ACC49-AC84-91F0-B4E4-C59AC2F17D36}"/>
              </a:ext>
            </a:extLst>
          </p:cNvPr>
          <p:cNvSpPr/>
          <p:nvPr/>
        </p:nvSpPr>
        <p:spPr>
          <a:xfrm>
            <a:off x="80005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
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5B91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resueltas</a:t>
            </a:r>
            <a:endParaRPr kumimoji="0" lang="es-CL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648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7C871-3966-A132-070B-BE03FBB4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grApp - Apps en Google Play">
            <a:extLst>
              <a:ext uri="{FF2B5EF4-FFF2-40B4-BE49-F238E27FC236}">
                <a16:creationId xmlns:a16="http://schemas.microsoft.com/office/drawing/2014/main" id="{FAE1302C-B740-C575-0962-49FA2D09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894" y="4357741"/>
            <a:ext cx="925830" cy="92583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A14138E-8DEB-A22E-A961-825B3FB738DC}"/>
              </a:ext>
            </a:extLst>
          </p:cNvPr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SUMATE A RESOLVER ESTO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srgbClr val="D98D3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F34340-06FB-6C7C-EC05-1AE6F6256F9E}"/>
              </a:ext>
            </a:extLst>
          </p:cNvPr>
          <p:cNvSpPr/>
          <p:nvPr/>
        </p:nvSpPr>
        <p:spPr>
          <a:xfrm>
            <a:off x="804672" y="2318658"/>
            <a:ext cx="103422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Ayúdanos a cuidar a quienes cuidan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4000" b="1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D28B84-23FD-C138-43D9-14A664FC2ACE}"/>
              </a:ext>
            </a:extLst>
          </p:cNvPr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ts val="2000"/>
              </a:lnSpc>
            </a:pPr>
            <a:r>
              <a:rPr lang="es-CL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invitamos a desarrollar una herramienta para “</a:t>
            </a: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nuestras tías del jardín” tengan un </a:t>
            </a:r>
            <a:r>
              <a:rPr kumimoji="0" lang="es-CL" sz="1500" b="1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plantear sus reales </a:t>
            </a:r>
            <a:r>
              <a:rPr kumimoji="0" lang="es-CL" sz="1500" b="1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</a:t>
            </a: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porque de ellas depende el desarrollo de nuestros niño/as.</a:t>
            </a:r>
            <a:endParaRPr kumimoji="0" lang="es-CL" sz="15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F9BE24-3FC0-09C2-9649-938D5B737332}"/>
              </a:ext>
            </a:extLst>
          </p:cNvPr>
          <p:cNvSpPr/>
          <p:nvPr/>
        </p:nvSpPr>
        <p:spPr>
          <a:xfrm>
            <a:off x="822960" y="41605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Image 0" descr="icon_fqbyhhyyhng.svg">
            <a:extLst>
              <a:ext uri="{FF2B5EF4-FFF2-40B4-BE49-F238E27FC236}">
                <a16:creationId xmlns:a16="http://schemas.microsoft.com/office/drawing/2014/main" id="{194DF96F-0ED2-C531-BB45-CCE2BDC70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4526280"/>
            <a:ext cx="502920" cy="50292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D3ABD357-C336-A5ED-F0B5-589CAABC832F}"/>
              </a:ext>
            </a:extLst>
          </p:cNvPr>
          <p:cNvSpPr/>
          <p:nvPr/>
        </p:nvSpPr>
        <p:spPr>
          <a:xfrm>
            <a:off x="1828800" y="42062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del referente
</a:t>
            </a: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Lissette Saavedra ·  Dirección Ejecutiva
</a:t>
            </a: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lsaavedrag@integra.cl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·  +56 9 95984508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 1" descr="artifacts/aws_logo_white.svg">
            <a:extLst>
              <a:ext uri="{FF2B5EF4-FFF2-40B4-BE49-F238E27FC236}">
                <a16:creationId xmlns:a16="http://schemas.microsoft.com/office/drawing/2014/main" id="{BB47A2C7-132B-8360-72B7-122D2FE9F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9480" y="4480560"/>
            <a:ext cx="1143000" cy="62179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D098DAFE-4686-6BAE-5713-BCEE80A05897}"/>
              </a:ext>
            </a:extLst>
          </p:cNvPr>
          <p:cNvSpPr/>
          <p:nvPr/>
        </p:nvSpPr>
        <p:spPr>
          <a:xfrm>
            <a:off x="822960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 Universidad de Chile  +  Fundación INTEGRA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24">
            <a:extLst>
              <a:ext uri="{FF2B5EF4-FFF2-40B4-BE49-F238E27FC236}">
                <a16:creationId xmlns:a16="http://schemas.microsoft.com/office/drawing/2014/main" id="{E6222B29-8EBF-B576-0E1C-A71F3AF8D03C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  <p:extLst>
      <p:ext uri="{BB962C8B-B14F-4D97-AF65-F5344CB8AC3E}">
        <p14:creationId xmlns:p14="http://schemas.microsoft.com/office/powerpoint/2010/main" val="2721782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A7BD7-8395-6D9E-FADA-2A040420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0A3CF82C-3D1A-D6AF-F9D5-E5488D5B57AB}"/>
              </a:ext>
            </a:extLst>
          </p:cNvPr>
          <p:cNvSpPr/>
          <p:nvPr/>
        </p:nvSpPr>
        <p:spPr>
          <a:xfrm>
            <a:off x="1783080" y="5669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0" cap="none" spc="20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 BARRIERS  ·  CHILE 2026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1B2D244-5156-FF67-D5F0-FEE93CE9AD02}"/>
              </a:ext>
            </a:extLst>
          </p:cNvPr>
          <p:cNvSpPr/>
          <p:nvPr/>
        </p:nvSpPr>
        <p:spPr>
          <a:xfrm>
            <a:off x="5276716" y="3288787"/>
            <a:ext cx="45262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Conectando</a:t>
            </a:r>
            <a:r>
              <a:rPr kumimoji="0" lang="es-CL" sz="16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familias con beneficios clave</a:t>
            </a:r>
          </a:p>
        </p:txBody>
      </p:sp>
      <p:pic>
        <p:nvPicPr>
          <p:cNvPr id="19" name="Picture 18" descr="The National Intelligence Center of Spain and AWS collaborate to promote public sector cybersecurity | AWS Security Blog">
            <a:extLst>
              <a:ext uri="{FF2B5EF4-FFF2-40B4-BE49-F238E27FC236}">
                <a16:creationId xmlns:a16="http://schemas.microsoft.com/office/drawing/2014/main" id="{EACD94C8-234D-5D40-BC5B-74FC568F6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1480"/>
            <a:ext cx="1097280" cy="731520"/>
          </a:xfrm>
          <a:prstGeom prst="roundRect">
            <a:avLst/>
          </a:prstGeom>
        </p:spPr>
      </p:pic>
      <p:sp>
        <p:nvSpPr>
          <p:cNvPr id="26" name="Shape 3">
            <a:extLst>
              <a:ext uri="{FF2B5EF4-FFF2-40B4-BE49-F238E27FC236}">
                <a16:creationId xmlns:a16="http://schemas.microsoft.com/office/drawing/2014/main" id="{FA673872-F959-524A-9C68-036FFE337ADA}"/>
              </a:ext>
            </a:extLst>
          </p:cNvPr>
          <p:cNvSpPr/>
          <p:nvPr/>
        </p:nvSpPr>
        <p:spPr>
          <a:xfrm>
            <a:off x="4793010" y="2612427"/>
            <a:ext cx="320722" cy="318878"/>
          </a:xfrm>
          <a:prstGeom prst="ellipse">
            <a:avLst/>
          </a:prstGeom>
          <a:solidFill>
            <a:srgbClr val="F79646">
              <a:lumMod val="75000"/>
            </a:srgbClr>
          </a:solidFill>
          <a:ln/>
        </p:spPr>
        <p:txBody>
          <a:bodyPr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3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20D83C2-6739-CA22-646C-C3DCA1FA932B}"/>
              </a:ext>
            </a:extLst>
          </p:cNvPr>
          <p:cNvSpPr/>
          <p:nvPr/>
        </p:nvSpPr>
        <p:spPr>
          <a:xfrm>
            <a:off x="4793010" y="2612427"/>
            <a:ext cx="320722" cy="31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s-CL" sz="13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5C820698-8521-B9C7-D032-32A47850A4CE}"/>
              </a:ext>
            </a:extLst>
          </p:cNvPr>
          <p:cNvSpPr/>
          <p:nvPr/>
        </p:nvSpPr>
        <p:spPr>
          <a:xfrm>
            <a:off x="5308694" y="2689201"/>
            <a:ext cx="39754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6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Apoyo Inteligente para Familias</a:t>
            </a:r>
          </a:p>
        </p:txBody>
      </p:sp>
    </p:spTree>
    <p:extLst>
      <p:ext uri="{BB962C8B-B14F-4D97-AF65-F5344CB8AC3E}">
        <p14:creationId xmlns:p14="http://schemas.microsoft.com/office/powerpoint/2010/main" val="1110411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s multimedia en línea 3" title="¿Por qué elegiste un jardín Integra?">
            <a:hlinkClick r:id="" action="ppaction://media"/>
            <a:extLst>
              <a:ext uri="{FF2B5EF4-FFF2-40B4-BE49-F238E27FC236}">
                <a16:creationId xmlns:a16="http://schemas.microsoft.com/office/drawing/2014/main" id="{0227436C-8D16-800F-9D08-27A7ECDBC20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25" y="0"/>
            <a:ext cx="12147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5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25C3-2C87-1249-22F7-3548DAAE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EEAE432-BADC-7CC7-1B49-F9C3133C5B56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CBA9F0-C919-3FF4-3490-F17809A2CDEB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dolor real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A27E380-60C8-60ED-63F3-5346317BC23D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8D2316-5E20-29D4-CC40-667D7C3273E6}"/>
              </a:ext>
            </a:extLst>
          </p:cNvPr>
          <p:cNvSpPr/>
          <p:nvPr/>
        </p:nvSpPr>
        <p:spPr>
          <a:xfrm>
            <a:off x="548640" y="1783080"/>
            <a:ext cx="6583680" cy="4087368"/>
          </a:xfrm>
          <a:prstGeom prst="roundRect">
            <a:avLst>
              <a:gd name="adj" fmla="val 1489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 0" descr="icon_chwp98x4itd.svg">
            <a:extLst>
              <a:ext uri="{FF2B5EF4-FFF2-40B4-BE49-F238E27FC236}">
                <a16:creationId xmlns:a16="http://schemas.microsoft.com/office/drawing/2014/main" id="{DA986ECB-7CB4-68CC-0C64-32817CA49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2043975"/>
            <a:ext cx="502920" cy="47830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24A6608-12EC-7E96-EDCD-4D94FDE199EA}"/>
              </a:ext>
            </a:extLst>
          </p:cNvPr>
          <p:cNvSpPr/>
          <p:nvPr/>
        </p:nvSpPr>
        <p:spPr>
          <a:xfrm>
            <a:off x="1508760" y="2061368"/>
            <a:ext cx="5303520" cy="43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una persona</a:t>
            </a: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A9C28C6-7FB3-969B-FF05-624CBF3A2D7A}"/>
              </a:ext>
            </a:extLst>
          </p:cNvPr>
          <p:cNvSpPr/>
          <p:nvPr/>
        </p:nvSpPr>
        <p:spPr>
          <a:xfrm>
            <a:off x="868680" y="2617946"/>
            <a:ext cx="5943600" cy="173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Cuando Don Julio llegó por primera vez a nuestro jardín </a:t>
            </a:r>
            <a:r>
              <a:rPr kumimoji="0" lang="es-CL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Agualuna</a:t>
            </a: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s-CL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Dolcahue</a:t>
            </a: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DCE4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no conocía los beneficios que el Estado</a:t>
            </a:r>
            <a:r>
              <a:rPr lang="es-CL" sz="1200" i="1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ofrece, lo cual podría mejorar la calidad de vida de su familia.</a:t>
            </a:r>
          </a:p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 sz="1200" i="1" dirty="0">
              <a:solidFill>
                <a:srgbClr val="DCE4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200" i="1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tía Ana, directora del jardín, lo orientó con la información que ella había recolectado en el CESFAM. Gracias a eso Don Julio pudo acceder al programa “Más adulto Mayor Autovalente” para estimulación motora y cognitiva en la tercera edad. Y así mantenerse con toda la vitalidad para jugar con su nieto Benjamín y apoyarlo en su desarrollo-</a:t>
            </a:r>
            <a:endParaRPr kumimoji="0" lang="es-CL" sz="1200" b="0" i="1" u="none" strike="noStrike" kern="1200" cap="none" spc="0" normalizeH="0" baseline="0" noProof="0" dirty="0">
              <a:ln>
                <a:noFill/>
              </a:ln>
              <a:solidFill>
                <a:srgbClr val="DCE4E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200" b="0" i="1" u="none" strike="noStrike" kern="1200" cap="none" spc="0" normalizeH="0" baseline="0" noProof="0" dirty="0">
              <a:ln>
                <a:noFill/>
              </a:ln>
              <a:solidFill>
                <a:srgbClr val="DCE4E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619600F-B253-C6CA-E255-A5A408048717}"/>
              </a:ext>
            </a:extLst>
          </p:cNvPr>
          <p:cNvSpPr/>
          <p:nvPr/>
        </p:nvSpPr>
        <p:spPr>
          <a:xfrm>
            <a:off x="868680" y="4479003"/>
            <a:ext cx="5943600" cy="18288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CE386CD-F9ED-16AE-F737-EABD78749428}"/>
              </a:ext>
            </a:extLst>
          </p:cNvPr>
          <p:cNvSpPr/>
          <p:nvPr/>
        </p:nvSpPr>
        <p:spPr>
          <a:xfrm>
            <a:off x="868680" y="4693597"/>
            <a:ext cx="5943600" cy="34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fondo</a:t>
            </a:r>
            <a:endParaRPr kumimoji="0" lang="es-CL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7A548D7-22B1-D9A1-9F25-D211FFDF47CB}"/>
              </a:ext>
            </a:extLst>
          </p:cNvPr>
          <p:cNvSpPr/>
          <p:nvPr/>
        </p:nvSpPr>
        <p:spPr>
          <a:xfrm>
            <a:off x="868680" y="5051084"/>
            <a:ext cx="5943600" cy="869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150" i="1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asimetría de información en las familias, para conocer los beneficios que el Estado entrega y que podrían acceder. Y altos costos de transacción para que una familia individualmente pueda informarse de ellos en cada institución que los otorga.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9FEEC4E-00C2-91E1-9523-F7C3FD3A16C6}"/>
              </a:ext>
            </a:extLst>
          </p:cNvPr>
          <p:cNvSpPr/>
          <p:nvPr/>
        </p:nvSpPr>
        <p:spPr>
          <a:xfrm>
            <a:off x="7406640" y="1826562"/>
            <a:ext cx="4206240" cy="34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Dimensiona el problema</a:t>
            </a:r>
            <a:endParaRPr kumimoji="0" lang="es-CL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28D14F4-FBF2-3B8D-20CC-A7746DFC1DF7}"/>
              </a:ext>
            </a:extLst>
          </p:cNvPr>
          <p:cNvSpPr/>
          <p:nvPr/>
        </p:nvSpPr>
        <p:spPr>
          <a:xfrm>
            <a:off x="7406640" y="2261389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" name="Image 1" descr="icon_o8irsi1p1c.svg">
            <a:extLst>
              <a:ext uri="{FF2B5EF4-FFF2-40B4-BE49-F238E27FC236}">
                <a16:creationId xmlns:a16="http://schemas.microsoft.com/office/drawing/2014/main" id="{B095335D-148F-62E7-F5EA-9CD0E1EC7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1232" y="2487498"/>
            <a:ext cx="310896" cy="295681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F0AE178E-D947-9A0B-2CDF-29BFCB8E0C62}"/>
              </a:ext>
            </a:extLst>
          </p:cNvPr>
          <p:cNvSpPr/>
          <p:nvPr/>
        </p:nvSpPr>
        <p:spPr>
          <a:xfrm>
            <a:off x="8001000" y="2261389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#1 — El boca a boca es la manera más común en que las familias se enteran de ciertos beneficios del Estado a nivel local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BEBB1C0-76C5-31FD-7989-7E5F6230CDE4}"/>
              </a:ext>
            </a:extLst>
          </p:cNvPr>
          <p:cNvSpPr/>
          <p:nvPr/>
        </p:nvSpPr>
        <p:spPr>
          <a:xfrm>
            <a:off x="7391400" y="3131041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Image 2" descr="icon_ajam5hxbdfg.svg">
            <a:extLst>
              <a:ext uri="{FF2B5EF4-FFF2-40B4-BE49-F238E27FC236}">
                <a16:creationId xmlns:a16="http://schemas.microsoft.com/office/drawing/2014/main" id="{A8A9F022-5759-017C-E4A9-FCFDB666D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1232" y="3357151"/>
            <a:ext cx="310896" cy="295681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C9888503-3446-BE2A-8E8C-58E49951102D}"/>
              </a:ext>
            </a:extLst>
          </p:cNvPr>
          <p:cNvSpPr/>
          <p:nvPr/>
        </p:nvSpPr>
        <p:spPr>
          <a:xfrm>
            <a:off x="8001000" y="3131041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#2 — Hay una brecha en la entrega de los beneficios para las familias que más lo necesitan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BA0BD173-BDDB-A767-E1CB-771093ACA01F}"/>
              </a:ext>
            </a:extLst>
          </p:cNvPr>
          <p:cNvSpPr/>
          <p:nvPr/>
        </p:nvSpPr>
        <p:spPr>
          <a:xfrm>
            <a:off x="7406640" y="4000694"/>
            <a:ext cx="4251960" cy="73920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 3" descr="icon_nui2dk8zgi.svg">
            <a:extLst>
              <a:ext uri="{FF2B5EF4-FFF2-40B4-BE49-F238E27FC236}">
                <a16:creationId xmlns:a16="http://schemas.microsoft.com/office/drawing/2014/main" id="{2144CD04-DE28-2A5B-5D7C-672CB1148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1232" y="4226804"/>
            <a:ext cx="310896" cy="295681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A1C3988B-CE53-1439-2747-1EEFE76545E5}"/>
              </a:ext>
            </a:extLst>
          </p:cNvPr>
          <p:cNvSpPr/>
          <p:nvPr/>
        </p:nvSpPr>
        <p:spPr>
          <a:xfrm>
            <a:off x="8001000" y="4000694"/>
            <a:ext cx="3520440" cy="7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duro #3 — Podemos llegar a 85 mil familias con información a través de nuestros jardines infantiles y salas cuna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0321FA7-5CC3-D3B0-F1E4-B3D0727D3182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BC593E83-DBEE-0636-FA2F-F913068FD266}"/>
              </a:ext>
            </a:extLst>
          </p:cNvPr>
          <p:cNvSpPr/>
          <p:nvPr/>
        </p:nvSpPr>
        <p:spPr>
          <a:xfrm>
            <a:off x="7406640" y="4913828"/>
            <a:ext cx="4251960" cy="1532691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C0463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A4BA874B-096D-330C-5B14-F9AA0980F7A6}"/>
              </a:ext>
            </a:extLst>
          </p:cNvPr>
          <p:cNvSpPr/>
          <p:nvPr/>
        </p:nvSpPr>
        <p:spPr>
          <a:xfrm>
            <a:off x="7589520" y="4913828"/>
            <a:ext cx="3931920" cy="153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s-CL" sz="1200" b="1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r>
              <a:rPr lang="es-CL" sz="1200" b="1" noProof="0" dirty="0">
                <a:solidFill>
                  <a:srgbClr val="C0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s-ES" sz="120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s-ES" sz="1200" noProof="0" dirty="0" err="1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r>
              <a:rPr lang="es-ES" sz="1200" noProof="0" dirty="0">
                <a:solidFill>
                  <a:srgbClr val="7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herramienta tecnológica que esté constantemente mapeando y clasificando los beneficios del Estado en cada territorio. Una puerta de entrada, única, amigable y cercana, que ayude a navegar un sistema complejo.</a:t>
            </a:r>
            <a:endParaRPr lang="es-CL" sz="1200" noProof="0" dirty="0"/>
          </a:p>
        </p:txBody>
      </p:sp>
    </p:spTree>
    <p:extLst>
      <p:ext uri="{BB962C8B-B14F-4D97-AF65-F5344CB8AC3E}">
        <p14:creationId xmlns:p14="http://schemas.microsoft.com/office/powerpoint/2010/main" val="2443464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6291F-2185-2644-9299-9FE53C16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80E3AE63-D823-340A-B714-2B93A32F4556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3B42A21B-EADB-E933-E095-5F862C6199A6}"/>
              </a:ext>
            </a:extLst>
          </p:cNvPr>
          <p:cNvSpPr/>
          <p:nvPr/>
        </p:nvSpPr>
        <p:spPr>
          <a:xfrm>
            <a:off x="11308851" y="5998157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s-CL" sz="9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99B75640-54F6-BD75-F2BE-9557AD109F8E}"/>
              </a:ext>
            </a:extLst>
          </p:cNvPr>
          <p:cNvSpPr/>
          <p:nvPr/>
        </p:nvSpPr>
        <p:spPr>
          <a:xfrm>
            <a:off x="291194" y="1616178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Image 0" descr="icon_fws5nuonib4.svg">
            <a:extLst>
              <a:ext uri="{FF2B5EF4-FFF2-40B4-BE49-F238E27FC236}">
                <a16:creationId xmlns:a16="http://schemas.microsoft.com/office/drawing/2014/main" id="{8A4C31B4-CC48-B286-31DA-81BE2BF8F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54" y="1725194"/>
            <a:ext cx="256032" cy="218032"/>
          </a:xfrm>
          <a:prstGeom prst="rect">
            <a:avLst/>
          </a:prstGeom>
        </p:spPr>
      </p:pic>
      <p:sp>
        <p:nvSpPr>
          <p:cNvPr id="35" name="Text 20">
            <a:extLst>
              <a:ext uri="{FF2B5EF4-FFF2-40B4-BE49-F238E27FC236}">
                <a16:creationId xmlns:a16="http://schemas.microsoft.com/office/drawing/2014/main" id="{CE4E2CF3-9FFC-57C3-09F0-5399A484E129}"/>
              </a:ext>
            </a:extLst>
          </p:cNvPr>
          <p:cNvSpPr/>
          <p:nvPr/>
        </p:nvSpPr>
        <p:spPr>
          <a:xfrm>
            <a:off x="794114" y="1616178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05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institución somos</a:t>
            </a: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una de las puertas de entrada de información para las familias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87CCB82D-C56A-7AE9-5DBF-20C666F08DD7}"/>
              </a:ext>
            </a:extLst>
          </p:cNvPr>
          <p:cNvSpPr/>
          <p:nvPr/>
        </p:nvSpPr>
        <p:spPr>
          <a:xfrm>
            <a:off x="291194" y="2169595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3" name="Image 2" descr="icon_8bu3ql6irzw.svg">
            <a:extLst>
              <a:ext uri="{FF2B5EF4-FFF2-40B4-BE49-F238E27FC236}">
                <a16:creationId xmlns:a16="http://schemas.microsoft.com/office/drawing/2014/main" id="{B52C46E4-EF62-1A4C-8FFC-0455665F6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54" y="2278612"/>
            <a:ext cx="256032" cy="218032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1A68291F-F551-3B6A-7536-9ADD509A85E0}"/>
              </a:ext>
            </a:extLst>
          </p:cNvPr>
          <p:cNvSpPr/>
          <p:nvPr/>
        </p:nvSpPr>
        <p:spPr>
          <a:xfrm>
            <a:off x="794114" y="2169595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 ayudamos a las familias a acceder a la información de los beneficios</a:t>
            </a:r>
            <a:r>
              <a:rPr lang="es-CL" sz="105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ellos podrán mejorar su calidad de vida y las de sus </a:t>
            </a:r>
            <a:r>
              <a:rPr lang="es-CL" sz="1050" dirty="0" err="1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</a:t>
            </a:r>
            <a:r>
              <a:rPr lang="es-CL" sz="105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4" name="Shape 25">
            <a:extLst>
              <a:ext uri="{FF2B5EF4-FFF2-40B4-BE49-F238E27FC236}">
                <a16:creationId xmlns:a16="http://schemas.microsoft.com/office/drawing/2014/main" id="{EE6D6B2C-DEC4-4547-4741-71A052835ACD}"/>
              </a:ext>
            </a:extLst>
          </p:cNvPr>
          <p:cNvSpPr/>
          <p:nvPr/>
        </p:nvSpPr>
        <p:spPr>
          <a:xfrm>
            <a:off x="285525" y="2737952"/>
            <a:ext cx="5760720" cy="436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6" name="Image 3" descr="icon_7q55bujzf94.svg">
            <a:extLst>
              <a:ext uri="{FF2B5EF4-FFF2-40B4-BE49-F238E27FC236}">
                <a16:creationId xmlns:a16="http://schemas.microsoft.com/office/drawing/2014/main" id="{0CF7C2EC-9DB1-B136-C7AA-C9D0001D4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54" y="2846968"/>
            <a:ext cx="256032" cy="218032"/>
          </a:xfrm>
          <a:prstGeom prst="rect">
            <a:avLst/>
          </a:prstGeom>
        </p:spPr>
      </p:pic>
      <p:sp>
        <p:nvSpPr>
          <p:cNvPr id="158" name="Text 26">
            <a:extLst>
              <a:ext uri="{FF2B5EF4-FFF2-40B4-BE49-F238E27FC236}">
                <a16:creationId xmlns:a16="http://schemas.microsoft.com/office/drawing/2014/main" id="{B4842C6F-BEAD-0A4E-93D4-A74C7841551F}"/>
              </a:ext>
            </a:extLst>
          </p:cNvPr>
          <p:cNvSpPr/>
          <p:nvPr/>
        </p:nvSpPr>
        <p:spPr>
          <a:xfrm>
            <a:off x="794114" y="2737952"/>
            <a:ext cx="5120640" cy="436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05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somos comunidad, también hacemos comunidad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2" name="Text 24">
            <a:extLst>
              <a:ext uri="{FF2B5EF4-FFF2-40B4-BE49-F238E27FC236}">
                <a16:creationId xmlns:a16="http://schemas.microsoft.com/office/drawing/2014/main" id="{962142DC-921E-DED8-4AD4-CDAE03BE6599}"/>
              </a:ext>
            </a:extLst>
          </p:cNvPr>
          <p:cNvSpPr/>
          <p:nvPr/>
        </p:nvSpPr>
        <p:spPr>
          <a:xfrm>
            <a:off x="556370" y="645878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B9B228-CB35-90CA-F012-B4132BEA2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95" y="1517904"/>
            <a:ext cx="5442520" cy="3970123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E9990669-DAD1-FA7F-72C6-03FEC9ECE9B7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D98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1  ·  CONTEXTO Y PROBLEMA</a:t>
            </a:r>
            <a:endParaRPr lang="es-CL" sz="12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84B5B82-C81F-5EBA-83FC-1AA0E3416911}"/>
              </a:ext>
            </a:extLst>
          </p:cNvPr>
          <p:cNvSpPr/>
          <p:nvPr/>
        </p:nvSpPr>
        <p:spPr>
          <a:xfrm>
            <a:off x="54864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B4BB6EF-3A8F-5413-A601-67E801CB8C9E}"/>
              </a:ext>
            </a:extLst>
          </p:cNvPr>
          <p:cNvSpPr/>
          <p:nvPr/>
        </p:nvSpPr>
        <p:spPr>
          <a:xfrm>
            <a:off x="288169" y="3283032"/>
            <a:ext cx="2275332" cy="17526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972F080C-1BE9-A4A9-C4ED-F7F3DE6F3D9E}"/>
              </a:ext>
            </a:extLst>
          </p:cNvPr>
          <p:cNvSpPr/>
          <p:nvPr/>
        </p:nvSpPr>
        <p:spPr>
          <a:xfrm>
            <a:off x="419306" y="3348683"/>
            <a:ext cx="489628" cy="617407"/>
          </a:xfrm>
          <a:prstGeom prst="ellipse">
            <a:avLst/>
          </a:prstGeom>
          <a:solidFill>
            <a:srgbClr val="3B7F8D">
              <a:alpha val="1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Image 0" descr="icon_03wu7k3zcjkd.svg">
            <a:extLst>
              <a:ext uri="{FF2B5EF4-FFF2-40B4-BE49-F238E27FC236}">
                <a16:creationId xmlns:a16="http://schemas.microsoft.com/office/drawing/2014/main" id="{3E39474A-2086-DCE9-BDCD-022D00C219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754" y="3498115"/>
            <a:ext cx="377806" cy="36318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ADE2DAED-C0B9-E7AF-7430-133E0949EE21}"/>
              </a:ext>
            </a:extLst>
          </p:cNvPr>
          <p:cNvSpPr/>
          <p:nvPr/>
        </p:nvSpPr>
        <p:spPr>
          <a:xfrm>
            <a:off x="560772" y="3993997"/>
            <a:ext cx="1872109" cy="290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Relevante para el sector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67E059D-650D-8471-F796-D3931386E43C}"/>
              </a:ext>
            </a:extLst>
          </p:cNvPr>
          <p:cNvSpPr/>
          <p:nvPr/>
        </p:nvSpPr>
        <p:spPr>
          <a:xfrm>
            <a:off x="635641" y="4326280"/>
            <a:ext cx="1872109" cy="435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solo nos preocupamos del desarrollo de nuestros niño/as dentro del jardín, también fuera del jardín en su entorno familiar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C0A95087-3DDC-E155-BC18-A1C166CBC831}"/>
              </a:ext>
            </a:extLst>
          </p:cNvPr>
          <p:cNvSpPr/>
          <p:nvPr/>
        </p:nvSpPr>
        <p:spPr>
          <a:xfrm>
            <a:off x="2663198" y="3283032"/>
            <a:ext cx="2275332" cy="17432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40900994-0E39-F646-C7CC-AABBA6F37949}"/>
              </a:ext>
            </a:extLst>
          </p:cNvPr>
          <p:cNvSpPr/>
          <p:nvPr/>
        </p:nvSpPr>
        <p:spPr>
          <a:xfrm>
            <a:off x="2806885" y="3348683"/>
            <a:ext cx="489628" cy="617407"/>
          </a:xfrm>
          <a:prstGeom prst="ellipse">
            <a:avLst/>
          </a:prstGeom>
          <a:solidFill>
            <a:srgbClr val="D98D31">
              <a:alpha val="1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Image 1" descr="icon_yncrv40jaje.svg">
            <a:extLst>
              <a:ext uri="{FF2B5EF4-FFF2-40B4-BE49-F238E27FC236}">
                <a16:creationId xmlns:a16="http://schemas.microsoft.com/office/drawing/2014/main" id="{2B381FFD-914D-8F0B-43F8-6D3627AF4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2333" y="3498115"/>
            <a:ext cx="377806" cy="363180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72206B51-DACE-29F2-1838-B103D9324EAE}"/>
              </a:ext>
            </a:extLst>
          </p:cNvPr>
          <p:cNvSpPr/>
          <p:nvPr/>
        </p:nvSpPr>
        <p:spPr>
          <a:xfrm>
            <a:off x="2879731" y="3970250"/>
            <a:ext cx="1872109" cy="290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</a:t>
            </a:r>
            <a:r>
              <a:rPr lang="es-CL" sz="1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problema resuelve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EF17972B-AE55-BF81-4AB5-B3920767022A}"/>
              </a:ext>
            </a:extLst>
          </p:cNvPr>
          <p:cNvSpPr/>
          <p:nvPr/>
        </p:nvSpPr>
        <p:spPr>
          <a:xfrm>
            <a:off x="2910973" y="4413430"/>
            <a:ext cx="1872109" cy="435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Asimetrías de información para conocer los beneficios del Estado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47140BCF-FDCC-6C26-23A2-111C4E4E2EB5}"/>
              </a:ext>
            </a:extLst>
          </p:cNvPr>
          <p:cNvSpPr/>
          <p:nvPr/>
        </p:nvSpPr>
        <p:spPr>
          <a:xfrm>
            <a:off x="5030857" y="3292379"/>
            <a:ext cx="2275332" cy="17432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EF2D0E6F-6F36-9D82-B011-11BB9CAF2802}"/>
              </a:ext>
            </a:extLst>
          </p:cNvPr>
          <p:cNvSpPr/>
          <p:nvPr/>
        </p:nvSpPr>
        <p:spPr>
          <a:xfrm>
            <a:off x="5194464" y="3369545"/>
            <a:ext cx="489628" cy="617407"/>
          </a:xfrm>
          <a:prstGeom prst="ellipse">
            <a:avLst/>
          </a:prstGeom>
          <a:solidFill>
            <a:srgbClr val="5B915C">
              <a:alpha val="1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Image 2" descr="icon_j7kplrxu8tf.svg">
            <a:extLst>
              <a:ext uri="{FF2B5EF4-FFF2-40B4-BE49-F238E27FC236}">
                <a16:creationId xmlns:a16="http://schemas.microsoft.com/office/drawing/2014/main" id="{9D46CBAC-6758-CEE6-67FB-9C512C001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9912" y="3518977"/>
            <a:ext cx="377806" cy="363180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03C40F9B-3F9F-4D86-D6B0-687F99ABF31C}"/>
              </a:ext>
            </a:extLst>
          </p:cNvPr>
          <p:cNvSpPr/>
          <p:nvPr/>
        </p:nvSpPr>
        <p:spPr>
          <a:xfrm>
            <a:off x="5232468" y="4089590"/>
            <a:ext cx="1872109" cy="290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beneficiario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F8221558-C9DA-E079-D943-D4FE67BA25F5}"/>
              </a:ext>
            </a:extLst>
          </p:cNvPr>
          <p:cNvSpPr/>
          <p:nvPr/>
        </p:nvSpPr>
        <p:spPr>
          <a:xfrm>
            <a:off x="5232467" y="4478655"/>
            <a:ext cx="1872109" cy="435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calidad de vida de las familias de nuestros niño/as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CC42E2F5-0D8F-CA08-4553-8DF0BD9B0959}"/>
              </a:ext>
            </a:extLst>
          </p:cNvPr>
          <p:cNvSpPr/>
          <p:nvPr/>
        </p:nvSpPr>
        <p:spPr>
          <a:xfrm>
            <a:off x="6066291" y="5240908"/>
            <a:ext cx="6125709" cy="1262764"/>
          </a:xfrm>
          <a:prstGeom prst="roundRect">
            <a:avLst>
              <a:gd name="adj" fmla="val 3784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9CC31B96-F9C4-B377-5607-6F3A005ADCD8}"/>
              </a:ext>
            </a:extLst>
          </p:cNvPr>
          <p:cNvSpPr/>
          <p:nvPr/>
        </p:nvSpPr>
        <p:spPr>
          <a:xfrm>
            <a:off x="5722444" y="5456821"/>
            <a:ext cx="2377487" cy="989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+85.000</a:t>
            </a:r>
            <a:endParaRPr kumimoji="0" lang="es-C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F8F2F3C0-1A45-2191-69C7-50520BD49929}"/>
              </a:ext>
            </a:extLst>
          </p:cNvPr>
          <p:cNvSpPr/>
          <p:nvPr/>
        </p:nvSpPr>
        <p:spPr>
          <a:xfrm>
            <a:off x="7765066" y="5690073"/>
            <a:ext cx="84894" cy="614317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8049DBDC-FEA8-3E1F-C876-0FA078F210EA}"/>
              </a:ext>
            </a:extLst>
          </p:cNvPr>
          <p:cNvSpPr/>
          <p:nvPr/>
        </p:nvSpPr>
        <p:spPr>
          <a:xfrm>
            <a:off x="6298699" y="5313144"/>
            <a:ext cx="5691560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anualmente</a:t>
            </a:r>
            <a:endParaRPr kumimoji="0" lang="es-CL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DB3EE5BD-81E0-FE6A-1A74-76F3B6215FB4}"/>
              </a:ext>
            </a:extLst>
          </p:cNvPr>
          <p:cNvSpPr/>
          <p:nvPr/>
        </p:nvSpPr>
        <p:spPr>
          <a:xfrm>
            <a:off x="8051701" y="5765475"/>
            <a:ext cx="3487159" cy="614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srgbClr val="D6E0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85.000 niño/as atendidos y sus familias cada año en 1.200 jardines a nivel nacional</a:t>
            </a:r>
          </a:p>
        </p:txBody>
      </p:sp>
    </p:spTree>
    <p:extLst>
      <p:ext uri="{BB962C8B-B14F-4D97-AF65-F5344CB8AC3E}">
        <p14:creationId xmlns:p14="http://schemas.microsoft.com/office/powerpoint/2010/main" val="3481443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C22A-87A0-DA2C-A8C4-DF847EC4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1BDA03E-540E-7D28-3A94-6AED852B6361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3B7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 2  ·  QUE SE RESUELVE Y HASTA DONDE CRECE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ECC30E-DBBE-9868-8313-1F5B2488928E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Impacto y escalabilidad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38ABC5C-0DDB-2738-772A-D2FCE8ECFBBA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C941ED7-E754-B7AB-999C-D7B00F739CCD}"/>
              </a:ext>
            </a:extLst>
          </p:cNvPr>
          <p:cNvSpPr/>
          <p:nvPr/>
        </p:nvSpPr>
        <p:spPr>
          <a:xfrm>
            <a:off x="594360" y="1783080"/>
            <a:ext cx="5486400" cy="3357181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9411B6-9673-F92E-30E2-826F85ED5620}"/>
              </a:ext>
            </a:extLst>
          </p:cNvPr>
          <p:cNvSpPr/>
          <p:nvPr/>
        </p:nvSpPr>
        <p:spPr>
          <a:xfrm>
            <a:off x="600396" y="1783080"/>
            <a:ext cx="5486400" cy="629471"/>
          </a:xfrm>
          <a:prstGeom prst="roundRect">
            <a:avLst>
              <a:gd name="adj" fmla="val 8000"/>
            </a:avLst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B9ADA86-3322-D86B-987F-5FFD8B9DE932}"/>
              </a:ext>
            </a:extLst>
          </p:cNvPr>
          <p:cNvSpPr/>
          <p:nvPr/>
        </p:nvSpPr>
        <p:spPr>
          <a:xfrm>
            <a:off x="600396" y="2118798"/>
            <a:ext cx="5486400" cy="293753"/>
          </a:xfrm>
          <a:prstGeom prst="rect">
            <a:avLst/>
          </a:prstGeom>
          <a:solidFill>
            <a:srgbClr val="D98D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Image 0" descr="icon_nmpf9dgv27h.svg">
            <a:extLst>
              <a:ext uri="{FF2B5EF4-FFF2-40B4-BE49-F238E27FC236}">
                <a16:creationId xmlns:a16="http://schemas.microsoft.com/office/drawing/2014/main" id="{EB4E7F53-F60B-09F0-E2DA-12AD04721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08974"/>
            <a:ext cx="384048" cy="35250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5CFCCF2-3D9C-4D04-76D2-C2360C8940DD}"/>
              </a:ext>
            </a:extLst>
          </p:cNvPr>
          <p:cNvSpPr/>
          <p:nvPr/>
        </p:nvSpPr>
        <p:spPr>
          <a:xfrm>
            <a:off x="1280160" y="1783080"/>
            <a:ext cx="4663440" cy="6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5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 resolvemos AHORA</a:t>
            </a:r>
            <a:endParaRPr kumimoji="0" lang="es-CL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B58864-7DCC-676E-1B2F-79AA77EC29FE}"/>
              </a:ext>
            </a:extLst>
          </p:cNvPr>
          <p:cNvSpPr/>
          <p:nvPr/>
        </p:nvSpPr>
        <p:spPr>
          <a:xfrm>
            <a:off x="868680" y="2622375"/>
            <a:ext cx="4846320" cy="235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Rompemos la asimetría de información de los beneficios del Estado</a:t>
            </a:r>
          </a:p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2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 familias pueden </a:t>
            </a: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mayores apoyos que mejoren su calidad de vida</a:t>
            </a:r>
          </a:p>
          <a:p>
            <a:pPr marL="171450" marR="0" lvl="0" indent="-171450" algn="l" defTabSz="914400" rtl="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L" sz="12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niño/as reciben mejores apoyos de sus familias para su desarrollo fuera del jardín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F5D4069-68DF-3ECF-0699-DE67A1F4FDCF}"/>
              </a:ext>
            </a:extLst>
          </p:cNvPr>
          <p:cNvSpPr/>
          <p:nvPr/>
        </p:nvSpPr>
        <p:spPr>
          <a:xfrm>
            <a:off x="6153912" y="1762097"/>
            <a:ext cx="5486400" cy="3357181"/>
          </a:xfrm>
          <a:prstGeom prst="roundRect">
            <a:avLst>
              <a:gd name="adj" fmla="val 1500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3D1474F-7A2A-0BDE-3627-DCE951C60791}"/>
              </a:ext>
            </a:extLst>
          </p:cNvPr>
          <p:cNvSpPr/>
          <p:nvPr/>
        </p:nvSpPr>
        <p:spPr>
          <a:xfrm>
            <a:off x="6146322" y="1757202"/>
            <a:ext cx="5486400" cy="629471"/>
          </a:xfrm>
          <a:prstGeom prst="roundRect">
            <a:avLst>
              <a:gd name="adj" fmla="val 8000"/>
            </a:avLst>
          </a:prstGeom>
          <a:solidFill>
            <a:srgbClr val="3B7F8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2AC49BB-DA0E-E909-4DFE-5EA9B1AD56A4}"/>
              </a:ext>
            </a:extLst>
          </p:cNvPr>
          <p:cNvSpPr/>
          <p:nvPr/>
        </p:nvSpPr>
        <p:spPr>
          <a:xfrm>
            <a:off x="6146322" y="2118798"/>
            <a:ext cx="5486400" cy="293753"/>
          </a:xfrm>
          <a:prstGeom prst="rect">
            <a:avLst/>
          </a:prstGeom>
          <a:solidFill>
            <a:srgbClr val="3B7F8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" name="Image 1" descr="icon_p66ak8retic.svg">
            <a:extLst>
              <a:ext uri="{FF2B5EF4-FFF2-40B4-BE49-F238E27FC236}">
                <a16:creationId xmlns:a16="http://schemas.microsoft.com/office/drawing/2014/main" id="{03A57EE7-A8BF-6121-2081-FDA8676C7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908974"/>
            <a:ext cx="384048" cy="352504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4DA80355-F522-5767-254C-E9BEB2554C2B}"/>
              </a:ext>
            </a:extLst>
          </p:cNvPr>
          <p:cNvSpPr/>
          <p:nvPr/>
        </p:nvSpPr>
        <p:spPr>
          <a:xfrm>
            <a:off x="6903720" y="1783080"/>
            <a:ext cx="4663440" cy="6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Hasta donde PUEDE llegar</a:t>
            </a:r>
            <a:endParaRPr kumimoji="0" lang="es-CL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Image 2" descr="icon_dffe8dnollk.svg">
            <a:extLst>
              <a:ext uri="{FF2B5EF4-FFF2-40B4-BE49-F238E27FC236}">
                <a16:creationId xmlns:a16="http://schemas.microsoft.com/office/drawing/2014/main" id="{D8778C4D-867D-D017-675E-4382C0F36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2706304"/>
            <a:ext cx="274320" cy="25178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EF0CFEB0-AEBF-AFB1-1853-62CA8FB3C08C}"/>
              </a:ext>
            </a:extLst>
          </p:cNvPr>
          <p:cNvSpPr/>
          <p:nvPr/>
        </p:nvSpPr>
        <p:spPr>
          <a:xfrm>
            <a:off x="6858000" y="2664340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pude replicar en cualquier institución que entregue un beneficio del Estado, es decir, que represente una puerta de entrada a la información</a:t>
            </a:r>
            <a:r>
              <a:rPr lang="es-CL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CL" sz="1150" dirty="0" err="1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Chileatiende</a:t>
            </a:r>
            <a:r>
              <a:rPr lang="es-CL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CESFAM, municipalidades, </a:t>
            </a:r>
            <a:r>
              <a:rPr lang="es-CL" sz="1150" dirty="0" err="1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s-CL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Image 3" descr="icon_tt5ua2yny8n.svg">
            <a:extLst>
              <a:ext uri="{FF2B5EF4-FFF2-40B4-BE49-F238E27FC236}">
                <a16:creationId xmlns:a16="http://schemas.microsoft.com/office/drawing/2014/main" id="{45A74295-7747-8AA9-C092-13DF24CA4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3503635"/>
            <a:ext cx="274320" cy="25178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0CE8B056-B42D-1244-7CFD-41B049A9B6EF}"/>
              </a:ext>
            </a:extLst>
          </p:cNvPr>
          <p:cNvSpPr/>
          <p:nvPr/>
        </p:nvSpPr>
        <p:spPr>
          <a:xfrm>
            <a:off x="6858000" y="3461670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 escalable a cualquier organización que tenga oficinas de atención ciudadana de instituciones que entregue beneficios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 4" descr="icon_hnsuyu1mjqi.svg">
            <a:extLst>
              <a:ext uri="{FF2B5EF4-FFF2-40B4-BE49-F238E27FC236}">
                <a16:creationId xmlns:a16="http://schemas.microsoft.com/office/drawing/2014/main" id="{30C772DE-F4BD-495E-480A-14BB54A5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520" y="4300965"/>
            <a:ext cx="274320" cy="251788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97E3A9D7-FB78-3A79-4EB1-74CB060D80D9}"/>
              </a:ext>
            </a:extLst>
          </p:cNvPr>
          <p:cNvSpPr/>
          <p:nvPr/>
        </p:nvSpPr>
        <p:spPr>
          <a:xfrm>
            <a:off x="6858000" y="4259001"/>
            <a:ext cx="4480560" cy="7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efecto multiplicador es que mejora la calidad de vida, de</a:t>
            </a:r>
            <a:r>
              <a:rPr lang="es-CL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</a:t>
            </a:r>
            <a:r>
              <a:rPr kumimoji="0" lang="es-CL" sz="1150" b="0" i="0" u="none" strike="noStrike" kern="1200" cap="none" spc="0" normalizeH="0" baseline="0" noProof="0" dirty="0">
                <a:ln>
                  <a:noFill/>
                </a:ln>
                <a:solidFill>
                  <a:srgbClr val="E7EE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que accedan a la mayor cantidad de beneficios que ofrece el Estado</a:t>
            </a:r>
            <a:endParaRPr kumimoji="0" lang="es-CL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DE36E396-0756-5B6D-F69D-EFC9F73B715E}"/>
              </a:ext>
            </a:extLst>
          </p:cNvPr>
          <p:cNvSpPr/>
          <p:nvPr/>
        </p:nvSpPr>
        <p:spPr>
          <a:xfrm>
            <a:off x="35204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  <p:extLst>
      <p:ext uri="{BB962C8B-B14F-4D97-AF65-F5344CB8AC3E}">
        <p14:creationId xmlns:p14="http://schemas.microsoft.com/office/powerpoint/2010/main" val="28567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5937-DC93-F57C-BD12-7091CA42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4DB98CE-2B37-6453-2BAF-CC590625D586}"/>
              </a:ext>
            </a:extLst>
          </p:cNvPr>
          <p:cNvSpPr/>
          <p:nvPr/>
        </p:nvSpPr>
        <p:spPr>
          <a:xfrm>
            <a:off x="594360" y="411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 3  ·  COMO LO MEDIMOS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0F7C8D-BE2A-62B5-26EE-417FA90A5905}"/>
              </a:ext>
            </a:extLst>
          </p:cNvPr>
          <p:cNvSpPr/>
          <p:nvPr/>
        </p:nvSpPr>
        <p:spPr>
          <a:xfrm>
            <a:off x="594360" y="65836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 métricas de éxito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5BB5C7-2429-1317-1C2D-9E4982790255}"/>
              </a:ext>
            </a:extLst>
          </p:cNvPr>
          <p:cNvSpPr/>
          <p:nvPr/>
        </p:nvSpPr>
        <p:spPr>
          <a:xfrm>
            <a:off x="612648" y="1481328"/>
            <a:ext cx="10972800" cy="36576"/>
          </a:xfrm>
          <a:prstGeom prst="rect">
            <a:avLst/>
          </a:prstGeom>
          <a:solidFill>
            <a:srgbClr val="20416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8AB560-A7E8-D0A5-7D42-1AF331ADF7BF}"/>
              </a:ext>
            </a:extLst>
          </p:cNvPr>
          <p:cNvSpPr/>
          <p:nvPr/>
        </p:nvSpPr>
        <p:spPr>
          <a:xfrm>
            <a:off x="548640" y="178308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 0" descr="icon_4mu6okoqw6y.svg">
            <a:extLst>
              <a:ext uri="{FF2B5EF4-FFF2-40B4-BE49-F238E27FC236}">
                <a16:creationId xmlns:a16="http://schemas.microsoft.com/office/drawing/2014/main" id="{7C69749A-51B6-FC25-41E3-1929DFD079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2130552"/>
            <a:ext cx="548640" cy="54864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ABD9E3EE-604C-E14B-9909-0479B558A2F0}"/>
              </a:ext>
            </a:extLst>
          </p:cNvPr>
          <p:cNvSpPr/>
          <p:nvPr/>
        </p:nvSpPr>
        <p:spPr>
          <a:xfrm>
            <a:off x="1508760" y="192023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1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KPI ESTRELLA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EA9B23C-5C56-80F6-8B52-FF03767810A8}"/>
              </a:ext>
            </a:extLst>
          </p:cNvPr>
          <p:cNvSpPr/>
          <p:nvPr/>
        </p:nvSpPr>
        <p:spPr>
          <a:xfrm>
            <a:off x="1508760" y="22585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3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“Informar a todas nuestras familias, de los beneficios que el Estado les puede ofrecer"</a:t>
            </a:r>
            <a:endParaRPr kumimoji="0" lang="es-CL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0C71A5B-FAA0-A7C2-A199-0739298E9879}"/>
              </a:ext>
            </a:extLst>
          </p:cNvPr>
          <p:cNvSpPr/>
          <p:nvPr/>
        </p:nvSpPr>
        <p:spPr>
          <a:xfrm>
            <a:off x="8778240" y="1874519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0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85 mil familias</a:t>
            </a:r>
            <a:endParaRPr kumimoji="0" lang="es-CL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EBF49FE5-B487-39BD-D188-2F8BA936240A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1A5179AA-B310-04AC-E542-FA6D38B563B6}"/>
              </a:ext>
            </a:extLst>
          </p:cNvPr>
          <p:cNvSpPr/>
          <p:nvPr/>
        </p:nvSpPr>
        <p:spPr>
          <a:xfrm>
            <a:off x="2247461" y="32461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pic>
        <p:nvPicPr>
          <p:cNvPr id="64" name="Image 1" descr="icon_lj9flz5am2d.svg">
            <a:extLst>
              <a:ext uri="{FF2B5EF4-FFF2-40B4-BE49-F238E27FC236}">
                <a16:creationId xmlns:a16="http://schemas.microsoft.com/office/drawing/2014/main" id="{4383D29F-B5CA-BBDF-C65F-3FC41B3C4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8461" y="3520439"/>
            <a:ext cx="457200" cy="457200"/>
          </a:xfrm>
          <a:prstGeom prst="rect">
            <a:avLst/>
          </a:prstGeom>
        </p:spPr>
      </p:pic>
      <p:sp>
        <p:nvSpPr>
          <p:cNvPr id="66" name="Text 9">
            <a:extLst>
              <a:ext uri="{FF2B5EF4-FFF2-40B4-BE49-F238E27FC236}">
                <a16:creationId xmlns:a16="http://schemas.microsoft.com/office/drawing/2014/main" id="{C1097420-E5DD-ABC8-43AC-1849CE5FE6EB}"/>
              </a:ext>
            </a:extLst>
          </p:cNvPr>
          <p:cNvSpPr/>
          <p:nvPr/>
        </p:nvSpPr>
        <p:spPr>
          <a:xfrm>
            <a:off x="3222821" y="3520439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#1: </a:t>
            </a:r>
            <a:endParaRPr lang="es-CL" sz="1500" noProof="0" dirty="0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D56E1690-6DB7-667F-BAC6-A3BC7D273DF6}"/>
              </a:ext>
            </a:extLst>
          </p:cNvPr>
          <p:cNvSpPr/>
          <p:nvPr/>
        </p:nvSpPr>
        <p:spPr>
          <a:xfrm>
            <a:off x="2628461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a todas nuestras familias del set de beneficios del Estado</a:t>
            </a:r>
            <a:endParaRPr lang="es-CL" sz="1000" noProof="0" dirty="0"/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F442018B-5D69-9B9B-8AD9-9EFB001D2E9D}"/>
              </a:ext>
            </a:extLst>
          </p:cNvPr>
          <p:cNvSpPr/>
          <p:nvPr/>
        </p:nvSpPr>
        <p:spPr>
          <a:xfrm>
            <a:off x="2628461" y="4480559"/>
            <a:ext cx="2971800" cy="10973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2" name="Text 12">
            <a:extLst>
              <a:ext uri="{FF2B5EF4-FFF2-40B4-BE49-F238E27FC236}">
                <a16:creationId xmlns:a16="http://schemas.microsoft.com/office/drawing/2014/main" id="{2FDCA8B6-B3BA-42F6-F5F7-C830B74649B8}"/>
              </a:ext>
            </a:extLst>
          </p:cNvPr>
          <p:cNvSpPr/>
          <p:nvPr/>
        </p:nvSpPr>
        <p:spPr>
          <a:xfrm>
            <a:off x="26284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
</a:t>
            </a:r>
            <a:r>
              <a:rPr lang="es-CL" sz="16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informadas</a:t>
            </a:r>
            <a:endParaRPr lang="es-CL" sz="900" noProof="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6B994B03-0B7E-B495-58C8-ECCEF7566BCD}"/>
              </a:ext>
            </a:extLst>
          </p:cNvPr>
          <p:cNvSpPr/>
          <p:nvPr/>
        </p:nvSpPr>
        <p:spPr>
          <a:xfrm>
            <a:off x="41143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
</a:t>
            </a:r>
            <a:r>
              <a:rPr lang="es-CL" sz="1600" b="1" noProof="0" dirty="0">
                <a:solidFill>
                  <a:srgbClr val="5B9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informadas</a:t>
            </a:r>
            <a:endParaRPr lang="es-CL" sz="900" noProof="0" dirty="0"/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765DAB41-238D-86DB-3120-5D93FA89AC41}"/>
              </a:ext>
            </a:extLst>
          </p:cNvPr>
          <p:cNvSpPr/>
          <p:nvPr/>
        </p:nvSpPr>
        <p:spPr>
          <a:xfrm>
            <a:off x="6194621" y="32461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/>
        </p:spPr>
        <p:txBody>
          <a:bodyPr/>
          <a:lstStyle/>
          <a:p>
            <a:endParaRPr lang="es-CL" noProof="0" dirty="0"/>
          </a:p>
        </p:txBody>
      </p:sp>
      <p:pic>
        <p:nvPicPr>
          <p:cNvPr id="78" name="Image 2" descr="icon_hl0pghp3hnf.svg">
            <a:extLst>
              <a:ext uri="{FF2B5EF4-FFF2-40B4-BE49-F238E27FC236}">
                <a16:creationId xmlns:a16="http://schemas.microsoft.com/office/drawing/2014/main" id="{C3A497F5-2073-FC2A-A61C-0D50C90EB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4661" y="3520439"/>
            <a:ext cx="457200" cy="457200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07F7BECE-C9E5-D106-4118-0A169B9EBD14}"/>
              </a:ext>
            </a:extLst>
          </p:cNvPr>
          <p:cNvSpPr/>
          <p:nvPr/>
        </p:nvSpPr>
        <p:spPr>
          <a:xfrm>
            <a:off x="7109021" y="3520439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#2</a:t>
            </a:r>
            <a:endParaRPr lang="es-CL" sz="1500" noProof="0" dirty="0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7B397D5E-A1F0-3527-7EDE-A4CB34E0471A}"/>
              </a:ext>
            </a:extLst>
          </p:cNvPr>
          <p:cNvSpPr/>
          <p:nvPr/>
        </p:nvSpPr>
        <p:spPr>
          <a:xfrm>
            <a:off x="6514661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i="1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a todas nuestras nuevas familias que ingresen a nuestros jardines cada año</a:t>
            </a:r>
            <a:endParaRPr lang="es-CL" sz="1000" noProof="0" dirty="0"/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F13D13E1-C6D1-4471-FB66-40BC22382736}"/>
              </a:ext>
            </a:extLst>
          </p:cNvPr>
          <p:cNvSpPr/>
          <p:nvPr/>
        </p:nvSpPr>
        <p:spPr>
          <a:xfrm>
            <a:off x="6514661" y="4480559"/>
            <a:ext cx="2971800" cy="10973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6" name="Text 18">
            <a:extLst>
              <a:ext uri="{FF2B5EF4-FFF2-40B4-BE49-F238E27FC236}">
                <a16:creationId xmlns:a16="http://schemas.microsoft.com/office/drawing/2014/main" id="{BD516585-D630-CD10-2486-15A5C3C384B0}"/>
              </a:ext>
            </a:extLst>
          </p:cNvPr>
          <p:cNvSpPr/>
          <p:nvPr/>
        </p:nvSpPr>
        <p:spPr>
          <a:xfrm>
            <a:off x="65146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</a:t>
            </a:r>
            <a:r>
              <a:rPr lang="es-CL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
</a:t>
            </a:r>
            <a:r>
              <a:rPr lang="es-CL" sz="16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informadas</a:t>
            </a:r>
            <a:endParaRPr lang="es-CL" sz="900" noProof="0" dirty="0"/>
          </a:p>
        </p:txBody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273F2691-2966-FF6E-1EA0-126A2E7A0DDA}"/>
              </a:ext>
            </a:extLst>
          </p:cNvPr>
          <p:cNvSpPr/>
          <p:nvPr/>
        </p:nvSpPr>
        <p:spPr>
          <a:xfrm>
            <a:off x="8000561" y="4617720"/>
            <a:ext cx="1485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
</a:t>
            </a:r>
            <a:r>
              <a:rPr lang="es-CL" sz="1600" b="1" noProof="0" dirty="0">
                <a:solidFill>
                  <a:srgbClr val="5B9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informadas</a:t>
            </a:r>
            <a:endParaRPr lang="es-CL" sz="900" noProof="0" dirty="0"/>
          </a:p>
        </p:txBody>
      </p:sp>
    </p:spTree>
    <p:extLst>
      <p:ext uri="{BB962C8B-B14F-4D97-AF65-F5344CB8AC3E}">
        <p14:creationId xmlns:p14="http://schemas.microsoft.com/office/powerpoint/2010/main" val="2389095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64D1-D54C-8302-CE05-D56128E1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grApp - Apps en Google Play">
            <a:extLst>
              <a:ext uri="{FF2B5EF4-FFF2-40B4-BE49-F238E27FC236}">
                <a16:creationId xmlns:a16="http://schemas.microsoft.com/office/drawing/2014/main" id="{6046B285-4B38-FA0D-73E2-C8A296DBC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894" y="4357741"/>
            <a:ext cx="925830" cy="92583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9E6B0C0-5AEE-DD34-9740-916829FE776C}"/>
              </a:ext>
            </a:extLst>
          </p:cNvPr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SUMATE A RESOLVER ESTO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srgbClr val="D98D3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51228C-93CD-432E-0040-EE767CAE732A}"/>
              </a:ext>
            </a:extLst>
          </p:cNvPr>
          <p:cNvSpPr/>
          <p:nvPr/>
        </p:nvSpPr>
        <p:spPr>
          <a:xfrm>
            <a:off x="804672" y="1783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Ayúdanos a ser </a:t>
            </a:r>
            <a:r>
              <a:rPr lang="es-CL" sz="4400" b="1" dirty="0">
                <a:solidFill>
                  <a:srgbClr val="204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hacer comunidad</a:t>
            </a:r>
            <a:endParaRPr kumimoji="0" lang="es-CL" sz="44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BBFD5C-0B97-A975-985A-DC512F82F48B}"/>
              </a:ext>
            </a:extLst>
          </p:cNvPr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 invitamos a desarrollar una herramienta para que nuestras familias, tengan </a:t>
            </a:r>
            <a:r>
              <a:rPr kumimoji="0" lang="es-CL" sz="1500" b="1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sobre todos los </a:t>
            </a:r>
            <a:r>
              <a:rPr kumimoji="0" lang="es-CL" sz="1500" b="1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que el Estado les puede ofrecer para mejorar su </a:t>
            </a:r>
            <a:r>
              <a:rPr kumimoji="0" lang="es-CL" sz="1500" b="1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vida </a:t>
            </a: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 la de sus hijo/as.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BABA90-4058-309F-28CB-E5BD074EE730}"/>
              </a:ext>
            </a:extLst>
          </p:cNvPr>
          <p:cNvSpPr/>
          <p:nvPr/>
        </p:nvSpPr>
        <p:spPr>
          <a:xfrm>
            <a:off x="822960" y="41605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Image 0" descr="icon_fqbyhhyyhng.svg">
            <a:extLst>
              <a:ext uri="{FF2B5EF4-FFF2-40B4-BE49-F238E27FC236}">
                <a16:creationId xmlns:a16="http://schemas.microsoft.com/office/drawing/2014/main" id="{4FD599AC-22F9-55A0-049C-78D81C2B7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4526280"/>
            <a:ext cx="502920" cy="50292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C940138-F7EB-9311-2527-543AD8FE0A89}"/>
              </a:ext>
            </a:extLst>
          </p:cNvPr>
          <p:cNvSpPr/>
          <p:nvPr/>
        </p:nvSpPr>
        <p:spPr>
          <a:xfrm>
            <a:off x="1828800" y="42062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ts val="1600"/>
              </a:lnSpc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del referente
</a:t>
            </a: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Lissette </a:t>
            </a:r>
            <a:r>
              <a:rPr lang="es-CL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Saavedra ·  Dirección Ejecutiva </a:t>
            </a: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lsaavedrag@integra.cl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·  +56 9 95984508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 1" descr="artifacts/aws_logo_white.svg">
            <a:extLst>
              <a:ext uri="{FF2B5EF4-FFF2-40B4-BE49-F238E27FC236}">
                <a16:creationId xmlns:a16="http://schemas.microsoft.com/office/drawing/2014/main" id="{ECA66FCF-6720-7BA5-A839-D2B441D12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9480" y="4480560"/>
            <a:ext cx="1143000" cy="62179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B1BF19FD-D43F-4845-55D1-8F2B406D8341}"/>
              </a:ext>
            </a:extLst>
          </p:cNvPr>
          <p:cNvSpPr/>
          <p:nvPr/>
        </p:nvSpPr>
        <p:spPr>
          <a:xfrm>
            <a:off x="822960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0" u="none" strike="noStrike" kern="1200" cap="none" spc="0" normalizeH="0" baseline="0" noProof="0" dirty="0">
                <a:ln>
                  <a:noFill/>
                </a:ln>
                <a:solidFill>
                  <a:srgbClr val="20416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 Universidad de Chile  +  Fundación INTEGRA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srgbClr val="20416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24">
            <a:extLst>
              <a:ext uri="{FF2B5EF4-FFF2-40B4-BE49-F238E27FC236}">
                <a16:creationId xmlns:a16="http://schemas.microsoft.com/office/drawing/2014/main" id="{70030CA9-4C61-E097-F3EE-73C834315312}"/>
              </a:ext>
            </a:extLst>
          </p:cNvPr>
          <p:cNvSpPr/>
          <p:nvPr/>
        </p:nvSpPr>
        <p:spPr>
          <a:xfrm>
            <a:off x="35204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9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</a:t>
            </a: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|   Desafíos Fundación Integra</a:t>
            </a:r>
          </a:p>
        </p:txBody>
      </p:sp>
    </p:spTree>
    <p:extLst>
      <p:ext uri="{BB962C8B-B14F-4D97-AF65-F5344CB8AC3E}">
        <p14:creationId xmlns:p14="http://schemas.microsoft.com/office/powerpoint/2010/main" val="1730841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ED59-ED7A-B682-EB7F-25DAB2AD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B581006-437B-0940-FD1F-122DDBB97705}"/>
              </a:ext>
            </a:extLst>
          </p:cNvPr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200" normalizeH="0" baseline="0" noProof="0" dirty="0">
                <a:ln>
                  <a:noFill/>
                </a:ln>
                <a:solidFill>
                  <a:srgbClr val="D98D3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SUMATE A RESOLVER ESTO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srgbClr val="D98D3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01BE9EB-F3B1-54BB-C666-8668726278EB}"/>
              </a:ext>
            </a:extLst>
          </p:cNvPr>
          <p:cNvSpPr/>
          <p:nvPr/>
        </p:nvSpPr>
        <p:spPr>
          <a:xfrm>
            <a:off x="35204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   ·   14 - 16 de octubre   ·   Universidad de Chile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BC4FEA1-19FF-531D-F14B-BFE210B89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80" y="1362365"/>
            <a:ext cx="3969100" cy="2933139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CFAA7526-FA9B-89D9-3D44-D3BBDEF44AB6}"/>
              </a:ext>
            </a:extLst>
          </p:cNvPr>
          <p:cNvSpPr/>
          <p:nvPr/>
        </p:nvSpPr>
        <p:spPr>
          <a:xfrm>
            <a:off x="640080" y="4393476"/>
            <a:ext cx="11109960" cy="834390"/>
          </a:xfrm>
          <a:prstGeom prst="roundRect">
            <a:avLst>
              <a:gd name="adj" fmla="val 12272"/>
            </a:avLst>
          </a:prstGeom>
          <a:solidFill>
            <a:srgbClr val="20416F"/>
          </a:solidFill>
          <a:ln/>
          <a:effectLst/>
        </p:spPr>
        <p:txBody>
          <a:bodyPr/>
          <a:lstStyle/>
          <a:p>
            <a:pPr lvl="0" algn="ctr">
              <a:defRPr/>
            </a:pPr>
            <a:r>
              <a:rPr lang="es-CL" sz="4000" b="1" dirty="0">
                <a:solidFill>
                  <a:srgbClr val="F6A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jugamos </a:t>
            </a:r>
            <a:r>
              <a:rPr lang="es-CL" sz="4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vida</a:t>
            </a:r>
            <a:endParaRPr kumimoji="0" lang="es-CL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223486B-A533-3F23-60C1-642EB4967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7060" b="5651"/>
          <a:stretch/>
        </p:blipFill>
        <p:spPr>
          <a:xfrm>
            <a:off x="3814764" y="1169472"/>
            <a:ext cx="4891340" cy="30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4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339BFCE-74A8-F8C5-AE16-42D91F003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3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7321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4FCA35-5F6E-4158-81E4-9A91C0DADA98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2763</Words>
  <Application>Microsoft Office PowerPoint</Application>
  <PresentationFormat>Panorámica</PresentationFormat>
  <Paragraphs>292</Paragraphs>
  <Slides>27</Slides>
  <Notes>22</Notes>
  <HiddenSlides>0</HiddenSlides>
  <MMClips>2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para Presentar tu Desafio</dc:title>
  <dc:subject>PptxGenJS Presentation</dc:subject>
  <dc:creator>AWS Breaking Barriers Chile 2026</dc:creator>
  <cp:lastModifiedBy>Lissette Alejandra Saavedra Guerra</cp:lastModifiedBy>
  <cp:revision>23</cp:revision>
  <dcterms:created xsi:type="dcterms:W3CDTF">2026-10-02T22:06:26Z</dcterms:created>
  <dcterms:modified xsi:type="dcterms:W3CDTF">2026-10-13T20:36:41Z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2026-10-02T22:15:02Z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e8fddb24-08db-46a5-b8c9-2d08e5a810f4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